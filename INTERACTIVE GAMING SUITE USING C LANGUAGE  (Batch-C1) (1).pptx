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PT Sans Narrow"/>
      <p:regular r:id="rId25"/>
      <p:bold r:id="rId26"/>
    </p:embeddedFont>
    <p:embeddedFont>
      <p:font typeface="Inter"/>
      <p:regular r:id="rId27"/>
      <p:bold r:id="rId28"/>
      <p:italic r:id="rId29"/>
      <p:boldItalic r:id="rId30"/>
    </p:embeddedFont>
    <p:embeddedFont>
      <p:font typeface="Instrument Sans Medium"/>
      <p:regular r:id="rId31"/>
      <p:bold r:id="rId32"/>
      <p:italic r:id="rId33"/>
      <p:boldItalic r:id="rId34"/>
    </p:embeddedFont>
    <p:embeddedFont>
      <p:font typeface="Inter Medium"/>
      <p:regular r:id="rId35"/>
      <p:bold r:id="rId36"/>
      <p:italic r:id="rId37"/>
      <p:boldItalic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0B3620-7914-4D3E-B1F5-C6CE48056E3F}">
  <a:tblStyle styleId="{6C0B3620-7914-4D3E-B1F5-C6CE48056E3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3.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PTSansNarrow-bold.fntdata"/><Relationship Id="rId25" Type="http://schemas.openxmlformats.org/officeDocument/2006/relationships/font" Target="fonts/PTSansNarrow-regular.fntdata"/><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nter-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nstrumentSansMedium-regular.fntdata"/><Relationship Id="rId30" Type="http://schemas.openxmlformats.org/officeDocument/2006/relationships/font" Target="fonts/Inter-boldItalic.fntdata"/><Relationship Id="rId11" Type="http://schemas.openxmlformats.org/officeDocument/2006/relationships/slide" Target="slides/slide4.xml"/><Relationship Id="rId33" Type="http://schemas.openxmlformats.org/officeDocument/2006/relationships/font" Target="fonts/InstrumentSansMedium-italic.fntdata"/><Relationship Id="rId10" Type="http://schemas.openxmlformats.org/officeDocument/2006/relationships/slide" Target="slides/slide3.xml"/><Relationship Id="rId32" Type="http://schemas.openxmlformats.org/officeDocument/2006/relationships/font" Target="fonts/InstrumentSansMedium-bold.fntdata"/><Relationship Id="rId13" Type="http://schemas.openxmlformats.org/officeDocument/2006/relationships/slide" Target="slides/slide6.xml"/><Relationship Id="rId35" Type="http://schemas.openxmlformats.org/officeDocument/2006/relationships/font" Target="fonts/InterMedium-regular.fntdata"/><Relationship Id="rId12" Type="http://schemas.openxmlformats.org/officeDocument/2006/relationships/slide" Target="slides/slide5.xml"/><Relationship Id="rId34" Type="http://schemas.openxmlformats.org/officeDocument/2006/relationships/font" Target="fonts/InstrumentSansMedium-boldItalic.fntdata"/><Relationship Id="rId15" Type="http://schemas.openxmlformats.org/officeDocument/2006/relationships/slide" Target="slides/slide8.xml"/><Relationship Id="rId37" Type="http://schemas.openxmlformats.org/officeDocument/2006/relationships/font" Target="fonts/InterMedium-italic.fntdata"/><Relationship Id="rId14" Type="http://schemas.openxmlformats.org/officeDocument/2006/relationships/slide" Target="slides/slide7.xml"/><Relationship Id="rId36" Type="http://schemas.openxmlformats.org/officeDocument/2006/relationships/font" Target="fonts/InterMedium-bold.fntdata"/><Relationship Id="rId17" Type="http://schemas.openxmlformats.org/officeDocument/2006/relationships/slide" Target="slides/slide10.xml"/><Relationship Id="rId39" Type="http://schemas.openxmlformats.org/officeDocument/2006/relationships/font" Target="fonts/OpenSans-regular.fntdata"/><Relationship Id="rId16" Type="http://schemas.openxmlformats.org/officeDocument/2006/relationships/slide" Target="slides/slide9.xml"/><Relationship Id="rId38" Type="http://schemas.openxmlformats.org/officeDocument/2006/relationships/font" Target="fonts/InterMedium-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a705475d9_2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da705475d9_2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a705475d9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da705475d9_2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a705475d9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da705475d9_2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a705475d9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da705475d9_2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a705475d9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da705475d9_2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a705475d9_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da705475d9_2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c7c7f052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dc7c7f0521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a705475d9_2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da705475d9_2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c7c7f0521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dc7c7f0521_2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a705475d9_2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da705475d9_2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c7c7f052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dc7c7f0521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a705475d9_2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da705475d9_2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a705475d9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da705475d9_2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c7c7f0521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dc7c7f0521_2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c7c7f0521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dc7c7f0521_2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a70fddd8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da70fddd8d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a705475d9_2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da705475d9_2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5"/>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69" name="Google Shape;69;p1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0" name="Google Shape;7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16"/>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6"/>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74" name="Google Shape;7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3"/>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arcadexmit.vercel.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5"/>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rgbClr val="000000"/>
              </a:buClr>
              <a:buSzPts val="5400"/>
              <a:buFont typeface="Arial"/>
              <a:buNone/>
            </a:pPr>
            <a:r>
              <a:rPr lang="en-GB" sz="1800"/>
              <a:t>INTERACTIVE GAMING SUITE USING C LANGUAGE</a:t>
            </a:r>
            <a:r>
              <a:rPr lang="en-GB" sz="1800"/>
              <a:t> </a:t>
            </a:r>
            <a:endParaRPr sz="1800"/>
          </a:p>
          <a:p>
            <a:pPr indent="0" lvl="0" marL="0" rtl="0" algn="ctr">
              <a:lnSpc>
                <a:spcPct val="100000"/>
              </a:lnSpc>
              <a:spcBef>
                <a:spcPts val="0"/>
              </a:spcBef>
              <a:spcAft>
                <a:spcPts val="0"/>
              </a:spcAft>
              <a:buSzPts val="5400"/>
              <a:buNone/>
            </a:pPr>
            <a:r>
              <a:rPr lang="en-GB" sz="1800"/>
              <a:t>(Batch-C1)</a:t>
            </a:r>
            <a:endParaRPr sz="1800"/>
          </a:p>
        </p:txBody>
      </p:sp>
      <p:sp>
        <p:nvSpPr>
          <p:cNvPr id="112" name="Google Shape;112;p25"/>
          <p:cNvSpPr txBox="1"/>
          <p:nvPr>
            <p:ph idx="1" type="subTitle"/>
          </p:nvPr>
        </p:nvSpPr>
        <p:spPr>
          <a:xfrm>
            <a:off x="2025250" y="2740525"/>
            <a:ext cx="2774400" cy="1171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sz="1500"/>
              <a:t>Aditya Awale (1262253318), Arham Gadiya (1262252447), Dhruv Bapat (1262251812), Aarush Majumdar (1262252187),</a:t>
            </a:r>
            <a:endParaRPr sz="1500"/>
          </a:p>
          <a:p>
            <a:pPr indent="0" lvl="0" marL="0" rtl="0" algn="ctr">
              <a:spcBef>
                <a:spcPts val="0"/>
              </a:spcBef>
              <a:spcAft>
                <a:spcPts val="0"/>
              </a:spcAft>
              <a:buNone/>
            </a:pPr>
            <a:r>
              <a:rPr lang="en-GB" sz="1500"/>
              <a:t>Nandan Pattanshetti (1262252466)</a:t>
            </a:r>
            <a:endParaRPr/>
          </a:p>
        </p:txBody>
      </p:sp>
      <p:sp>
        <p:nvSpPr>
          <p:cNvPr id="113" name="Google Shape;113;p25"/>
          <p:cNvSpPr txBox="1"/>
          <p:nvPr>
            <p:ph idx="1" type="subTitle"/>
          </p:nvPr>
        </p:nvSpPr>
        <p:spPr>
          <a:xfrm>
            <a:off x="4761275" y="2740525"/>
            <a:ext cx="2434800" cy="1171200"/>
          </a:xfrm>
          <a:prstGeom prst="rect">
            <a:avLst/>
          </a:prstGeom>
          <a:noFill/>
          <a:ln>
            <a:noFill/>
          </a:ln>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2400"/>
              <a:buNone/>
            </a:pPr>
            <a:r>
              <a:rPr lang="en-GB" sz="1600"/>
              <a:t>Guided By:</a:t>
            </a:r>
            <a:endParaRPr sz="1600"/>
          </a:p>
          <a:p>
            <a:pPr indent="0" lvl="0" marL="0" rtl="0" algn="ctr">
              <a:lnSpc>
                <a:spcPct val="80000"/>
              </a:lnSpc>
              <a:spcBef>
                <a:spcPts val="0"/>
              </a:spcBef>
              <a:spcAft>
                <a:spcPts val="0"/>
              </a:spcAft>
              <a:buSzPts val="2400"/>
              <a:buNone/>
            </a:pPr>
            <a:r>
              <a:t/>
            </a:r>
            <a:endParaRPr sz="1600"/>
          </a:p>
          <a:p>
            <a:pPr indent="0" lvl="0" marL="0" rtl="0" algn="ctr">
              <a:lnSpc>
                <a:spcPct val="80000"/>
              </a:lnSpc>
              <a:spcBef>
                <a:spcPts val="0"/>
              </a:spcBef>
              <a:spcAft>
                <a:spcPts val="0"/>
              </a:spcAft>
              <a:buSzPts val="2400"/>
              <a:buNone/>
            </a:pPr>
            <a:r>
              <a:rPr lang="en-GB" sz="1600"/>
              <a:t>Dr. Renuka Mane</a:t>
            </a:r>
            <a:endParaRPr sz="1600"/>
          </a:p>
        </p:txBody>
      </p:sp>
      <p:pic>
        <p:nvPicPr>
          <p:cNvPr id="114" name="Google Shape;114;p25"/>
          <p:cNvPicPr preferRelativeResize="0"/>
          <p:nvPr/>
        </p:nvPicPr>
        <p:blipFill rotWithShape="1">
          <a:blip r:embed="rId3">
            <a:alphaModFix/>
          </a:blip>
          <a:srcRect b="0" l="0" r="0" t="0"/>
          <a:stretch/>
        </p:blipFill>
        <p:spPr>
          <a:xfrm>
            <a:off x="3280775" y="58450"/>
            <a:ext cx="2774523" cy="856226"/>
          </a:xfrm>
          <a:prstGeom prst="rect">
            <a:avLst/>
          </a:prstGeom>
          <a:noFill/>
          <a:ln>
            <a:noFill/>
          </a:ln>
        </p:spPr>
      </p:pic>
      <p:sp>
        <p:nvSpPr>
          <p:cNvPr id="115" name="Google Shape;115;p25"/>
          <p:cNvSpPr txBox="1"/>
          <p:nvPr/>
        </p:nvSpPr>
        <p:spPr>
          <a:xfrm>
            <a:off x="199150" y="1180575"/>
            <a:ext cx="8474700" cy="923299"/>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1" i="0" lang="en-GB" sz="2400" u="none" cap="none" strike="noStrike">
                <a:solidFill>
                  <a:srgbClr val="0070C0"/>
                </a:solidFill>
                <a:latin typeface="Arial"/>
                <a:ea typeface="Arial"/>
                <a:cs typeface="Arial"/>
                <a:sym typeface="Arial"/>
              </a:rPr>
              <a:t>Foundations of Programming-CSE10010</a:t>
            </a:r>
            <a:endParaRPr b="1" i="0" sz="2400" u="none" cap="none" strike="noStrike">
              <a:solidFill>
                <a:srgbClr val="0070C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rgbClr val="0070C0"/>
                </a:solidFill>
                <a:latin typeface="PT Sans Narrow"/>
                <a:ea typeface="PT Sans Narrow"/>
                <a:cs typeface="PT Sans Narrow"/>
                <a:sym typeface="PT Sans Narrow"/>
              </a:rPr>
              <a:t> Mini Project Presentation 2025-26</a:t>
            </a:r>
            <a:endParaRPr b="0" i="0" sz="2400" u="none" cap="none" strike="noStrike">
              <a:solidFill>
                <a:srgbClr val="0070C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Content</a:t>
            </a:r>
            <a:endParaRPr/>
          </a:p>
        </p:txBody>
      </p:sp>
      <p:sp>
        <p:nvSpPr>
          <p:cNvPr id="121" name="Google Shape;121;p2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Introduction and Motivation</a:t>
            </a:r>
            <a:endParaRPr/>
          </a:p>
          <a:p>
            <a:pPr indent="-342900" lvl="0" marL="457200" rtl="0" algn="l">
              <a:lnSpc>
                <a:spcPct val="115000"/>
              </a:lnSpc>
              <a:spcBef>
                <a:spcPts val="0"/>
              </a:spcBef>
              <a:spcAft>
                <a:spcPts val="0"/>
              </a:spcAft>
              <a:buSzPts val="1800"/>
              <a:buChar char="●"/>
            </a:pPr>
            <a:r>
              <a:rPr lang="en-GB"/>
              <a:t>Problem Statement and Objectives</a:t>
            </a:r>
            <a:endParaRPr/>
          </a:p>
          <a:p>
            <a:pPr indent="-342900" lvl="0" marL="457200" rtl="0" algn="l">
              <a:lnSpc>
                <a:spcPct val="115000"/>
              </a:lnSpc>
              <a:spcBef>
                <a:spcPts val="0"/>
              </a:spcBef>
              <a:spcAft>
                <a:spcPts val="0"/>
              </a:spcAft>
              <a:buSzPts val="1800"/>
              <a:buChar char="●"/>
            </a:pPr>
            <a:r>
              <a:rPr lang="en-GB"/>
              <a:t>Individual Contribution</a:t>
            </a:r>
            <a:endParaRPr/>
          </a:p>
          <a:p>
            <a:pPr indent="-342900" lvl="0" marL="457200" rtl="0" algn="l">
              <a:lnSpc>
                <a:spcPct val="115000"/>
              </a:lnSpc>
              <a:spcBef>
                <a:spcPts val="0"/>
              </a:spcBef>
              <a:spcAft>
                <a:spcPts val="0"/>
              </a:spcAft>
              <a:buSzPts val="1800"/>
              <a:buChar char="●"/>
            </a:pPr>
            <a:r>
              <a:rPr lang="en-GB"/>
              <a:t>Summary of Literature Survey</a:t>
            </a:r>
            <a:endParaRPr/>
          </a:p>
          <a:p>
            <a:pPr indent="-342900" lvl="0" marL="457200" rtl="0" algn="l">
              <a:lnSpc>
                <a:spcPct val="115000"/>
              </a:lnSpc>
              <a:spcBef>
                <a:spcPts val="0"/>
              </a:spcBef>
              <a:spcAft>
                <a:spcPts val="0"/>
              </a:spcAft>
              <a:buSzPts val="1800"/>
              <a:buChar char="●"/>
            </a:pPr>
            <a:r>
              <a:rPr lang="en-GB"/>
              <a:t>Proposed System</a:t>
            </a:r>
            <a:endParaRPr/>
          </a:p>
          <a:p>
            <a:pPr indent="-342900" lvl="0" marL="457200" rtl="0" algn="l">
              <a:lnSpc>
                <a:spcPct val="115000"/>
              </a:lnSpc>
              <a:spcBef>
                <a:spcPts val="0"/>
              </a:spcBef>
              <a:spcAft>
                <a:spcPts val="0"/>
              </a:spcAft>
              <a:buSzPts val="1800"/>
              <a:buChar char="●"/>
            </a:pPr>
            <a:r>
              <a:rPr lang="en-GB"/>
              <a:t>Hardware and Software Requirements</a:t>
            </a:r>
            <a:endParaRPr/>
          </a:p>
          <a:p>
            <a:pPr indent="-342900" lvl="0" marL="457200" rtl="0" algn="l">
              <a:lnSpc>
                <a:spcPct val="115000"/>
              </a:lnSpc>
              <a:spcBef>
                <a:spcPts val="0"/>
              </a:spcBef>
              <a:spcAft>
                <a:spcPts val="0"/>
              </a:spcAft>
              <a:buSzPts val="1800"/>
              <a:buChar char="●"/>
            </a:pPr>
            <a:r>
              <a:rPr lang="en-GB"/>
              <a:t>Implementation and Experimental Setup</a:t>
            </a:r>
            <a:endParaRPr/>
          </a:p>
          <a:p>
            <a:pPr indent="-342900" lvl="0" marL="457200" rtl="0" algn="l">
              <a:lnSpc>
                <a:spcPct val="115000"/>
              </a:lnSpc>
              <a:spcBef>
                <a:spcPts val="0"/>
              </a:spcBef>
              <a:spcAft>
                <a:spcPts val="0"/>
              </a:spcAft>
              <a:buSzPts val="1800"/>
              <a:buChar char="●"/>
            </a:pPr>
            <a:r>
              <a:rPr lang="en-GB"/>
              <a:t>Results and Conclusions</a:t>
            </a:r>
            <a:endParaRPr/>
          </a:p>
          <a:p>
            <a:pPr indent="-342900" lvl="0" marL="457200" rtl="0" algn="l">
              <a:lnSpc>
                <a:spcPct val="115000"/>
              </a:lnSpc>
              <a:spcBef>
                <a:spcPts val="0"/>
              </a:spcBef>
              <a:spcAft>
                <a:spcPts val="0"/>
              </a:spcAft>
              <a:buSzPts val="1800"/>
              <a:buChar char="●"/>
            </a:pPr>
            <a:r>
              <a:rPr lang="en-GB"/>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Problem Statement and Objectives</a:t>
            </a:r>
            <a:endParaRPr/>
          </a:p>
        </p:txBody>
      </p:sp>
      <p:sp>
        <p:nvSpPr>
          <p:cNvPr id="127" name="Google Shape;127;p2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SzPts val="1800"/>
              <a:buNone/>
            </a:pPr>
            <a:r>
              <a:rPr lang="en-GB">
                <a:solidFill>
                  <a:srgbClr val="0000FF"/>
                </a:solidFill>
              </a:rPr>
              <a:t>Problem Statement: </a:t>
            </a:r>
            <a:endParaRPr>
              <a:solidFill>
                <a:srgbClr val="0000FF"/>
              </a:solidFill>
            </a:endParaRPr>
          </a:p>
          <a:p>
            <a:pPr indent="0" lvl="0" marL="0" rtl="0" algn="l">
              <a:lnSpc>
                <a:spcPct val="162857"/>
              </a:lnSpc>
              <a:spcBef>
                <a:spcPts val="1200"/>
              </a:spcBef>
              <a:spcAft>
                <a:spcPts val="0"/>
              </a:spcAft>
              <a:buNone/>
            </a:pPr>
            <a:r>
              <a:rPr lang="en-GB" sz="1100">
                <a:solidFill>
                  <a:srgbClr val="000000"/>
                </a:solidFill>
                <a:latin typeface="Inter"/>
                <a:ea typeface="Inter"/>
                <a:cs typeface="Inter"/>
                <a:sym typeface="Inter"/>
              </a:rPr>
              <a:t>Traditional programming education struggles to engage students. Logic-based games bridge the gap between theoretical concepts and practical application, making learning interactive and enjoyable.</a:t>
            </a:r>
            <a:endParaRPr sz="1100">
              <a:solidFill>
                <a:srgbClr val="000000"/>
              </a:solidFill>
              <a:latin typeface="Inter"/>
              <a:ea typeface="Inter"/>
              <a:cs typeface="Inter"/>
              <a:sym typeface="Inter"/>
            </a:endParaRPr>
          </a:p>
          <a:p>
            <a:pPr indent="0" lvl="0" marL="0" rtl="0" algn="l">
              <a:spcBef>
                <a:spcPts val="1800"/>
              </a:spcBef>
              <a:spcAft>
                <a:spcPts val="0"/>
              </a:spcAft>
              <a:buNone/>
            </a:pPr>
            <a:r>
              <a:rPr lang="en-GB">
                <a:solidFill>
                  <a:srgbClr val="0000FF"/>
                </a:solidFill>
              </a:rPr>
              <a:t>Objectives:</a:t>
            </a:r>
            <a:endParaRPr>
              <a:solidFill>
                <a:srgbClr val="0000FF"/>
              </a:solidFill>
            </a:endParaRPr>
          </a:p>
          <a:p>
            <a:pPr indent="-298450" lvl="0" marL="457200" rtl="0" algn="l">
              <a:spcBef>
                <a:spcPts val="1200"/>
              </a:spcBef>
              <a:spcAft>
                <a:spcPts val="0"/>
              </a:spcAft>
              <a:buClr>
                <a:srgbClr val="000000"/>
              </a:buClr>
              <a:buSzPts val="1100"/>
              <a:buFont typeface="Inter"/>
              <a:buChar char="●"/>
            </a:pPr>
            <a:r>
              <a:rPr lang="en-GB" sz="1100">
                <a:solidFill>
                  <a:srgbClr val="000000"/>
                </a:solidFill>
                <a:latin typeface="Inter"/>
                <a:ea typeface="Inter"/>
                <a:cs typeface="Inter"/>
                <a:sym typeface="Inter"/>
              </a:rPr>
              <a:t>To develop a user-friendly web application using modern technologies.</a:t>
            </a:r>
            <a:endParaRPr sz="1100">
              <a:solidFill>
                <a:srgbClr val="000000"/>
              </a:solidFill>
              <a:latin typeface="Inter"/>
              <a:ea typeface="Inter"/>
              <a:cs typeface="Inter"/>
              <a:sym typeface="Inter"/>
            </a:endParaRPr>
          </a:p>
          <a:p>
            <a:pPr indent="-298450" lvl="0" marL="457200" rtl="0" algn="l">
              <a:spcBef>
                <a:spcPts val="0"/>
              </a:spcBef>
              <a:spcAft>
                <a:spcPts val="0"/>
              </a:spcAft>
              <a:buClr>
                <a:srgbClr val="000000"/>
              </a:buClr>
              <a:buSzPts val="1100"/>
              <a:buFont typeface="Inter"/>
              <a:buChar char="●"/>
            </a:pPr>
            <a:r>
              <a:rPr lang="en-GB" sz="1100">
                <a:solidFill>
                  <a:srgbClr val="000000"/>
                </a:solidFill>
                <a:latin typeface="Inter"/>
                <a:ea typeface="Inter"/>
                <a:cs typeface="Inter"/>
                <a:sym typeface="Inter"/>
              </a:rPr>
              <a:t>To provide an interactive platform where users can access features easily.</a:t>
            </a:r>
            <a:endParaRPr sz="1100">
              <a:solidFill>
                <a:srgbClr val="000000"/>
              </a:solidFill>
              <a:latin typeface="Inter"/>
              <a:ea typeface="Inter"/>
              <a:cs typeface="Inter"/>
              <a:sym typeface="Inter"/>
            </a:endParaRPr>
          </a:p>
          <a:p>
            <a:pPr indent="-298450" lvl="0" marL="457200" rtl="0" algn="l">
              <a:spcBef>
                <a:spcPts val="0"/>
              </a:spcBef>
              <a:spcAft>
                <a:spcPts val="0"/>
              </a:spcAft>
              <a:buClr>
                <a:srgbClr val="000000"/>
              </a:buClr>
              <a:buSzPts val="1100"/>
              <a:buFont typeface="Inter"/>
              <a:buChar char="●"/>
            </a:pPr>
            <a:r>
              <a:rPr lang="en-GB" sz="1100">
                <a:solidFill>
                  <a:srgbClr val="000000"/>
                </a:solidFill>
                <a:latin typeface="Inter"/>
                <a:ea typeface="Inter"/>
                <a:cs typeface="Inter"/>
                <a:sym typeface="Inter"/>
              </a:rPr>
              <a:t>To ensure fast performance and smooth navigation.</a:t>
            </a:r>
            <a:endParaRPr sz="1100">
              <a:solidFill>
                <a:srgbClr val="000000"/>
              </a:solidFill>
              <a:latin typeface="Inter"/>
              <a:ea typeface="Inter"/>
              <a:cs typeface="Inter"/>
              <a:sym typeface="Inter"/>
            </a:endParaRPr>
          </a:p>
          <a:p>
            <a:pPr indent="-298450" lvl="0" marL="457200" rtl="0" algn="l">
              <a:spcBef>
                <a:spcPts val="0"/>
              </a:spcBef>
              <a:spcAft>
                <a:spcPts val="0"/>
              </a:spcAft>
              <a:buClr>
                <a:srgbClr val="000000"/>
              </a:buClr>
              <a:buSzPts val="1100"/>
              <a:buFont typeface="Inter"/>
              <a:buChar char="●"/>
            </a:pPr>
            <a:r>
              <a:rPr lang="en-GB" sz="1100">
                <a:solidFill>
                  <a:srgbClr val="000000"/>
                </a:solidFill>
                <a:latin typeface="Inter"/>
                <a:ea typeface="Inter"/>
                <a:cs typeface="Inter"/>
                <a:sym typeface="Inter"/>
              </a:rPr>
              <a:t>To design a simple and attractive interface for better user experience.</a:t>
            </a:r>
            <a:endParaRPr sz="1100">
              <a:solidFill>
                <a:srgbClr val="000000"/>
              </a:solidFill>
              <a:latin typeface="Inter"/>
              <a:ea typeface="Inter"/>
              <a:cs typeface="Inter"/>
              <a:sym typeface="Inter"/>
            </a:endParaRPr>
          </a:p>
          <a:p>
            <a:pPr indent="-298450" lvl="0" marL="457200" rtl="0" algn="l">
              <a:spcBef>
                <a:spcPts val="0"/>
              </a:spcBef>
              <a:spcAft>
                <a:spcPts val="0"/>
              </a:spcAft>
              <a:buClr>
                <a:srgbClr val="000000"/>
              </a:buClr>
              <a:buSzPts val="1100"/>
              <a:buFont typeface="Inter"/>
              <a:buChar char="●"/>
            </a:pPr>
            <a:r>
              <a:rPr lang="en-GB" sz="1100">
                <a:solidFill>
                  <a:srgbClr val="000000"/>
                </a:solidFill>
                <a:latin typeface="Inter"/>
                <a:ea typeface="Inter"/>
                <a:cs typeface="Inter"/>
                <a:sym typeface="Inter"/>
              </a:rPr>
              <a:t>To demonstrate the use of web development tools and frameworks (like frontend + backend integration).</a:t>
            </a:r>
            <a:endParaRPr>
              <a:solidFill>
                <a:srgbClr val="0000FF"/>
              </a:solidFill>
              <a:latin typeface="Inter Medium"/>
              <a:ea typeface="Inter Medium"/>
              <a:cs typeface="Inter Medium"/>
              <a:sym typeface="Inter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Introduction and Motivation</a:t>
            </a:r>
            <a:endParaRPr/>
          </a:p>
        </p:txBody>
      </p:sp>
      <p:sp>
        <p:nvSpPr>
          <p:cNvPr id="133" name="Google Shape;133;p28"/>
          <p:cNvSpPr txBox="1"/>
          <p:nvPr>
            <p:ph idx="1" type="body"/>
          </p:nvPr>
        </p:nvSpPr>
        <p:spPr>
          <a:xfrm>
            <a:off x="70625" y="1266325"/>
            <a:ext cx="9073500" cy="3208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62857"/>
              </a:lnSpc>
              <a:spcBef>
                <a:spcPts val="0"/>
              </a:spcBef>
              <a:spcAft>
                <a:spcPts val="0"/>
              </a:spcAft>
              <a:buSzPts val="1100"/>
              <a:buNone/>
            </a:pPr>
            <a:r>
              <a:t/>
            </a:r>
            <a:endParaRPr sz="1100">
              <a:solidFill>
                <a:srgbClr val="000000"/>
              </a:solidFill>
              <a:latin typeface="Inter"/>
              <a:ea typeface="Inter"/>
              <a:cs typeface="Inter"/>
              <a:sym typeface="Inter"/>
            </a:endParaRPr>
          </a:p>
          <a:p>
            <a:pPr indent="0" lvl="0" marL="0" rtl="0" algn="l">
              <a:lnSpc>
                <a:spcPct val="162857"/>
              </a:lnSpc>
              <a:spcBef>
                <a:spcPts val="0"/>
              </a:spcBef>
              <a:spcAft>
                <a:spcPts val="0"/>
              </a:spcAft>
              <a:buSzPts val="1100"/>
              <a:buNone/>
            </a:pPr>
            <a:r>
              <a:t/>
            </a:r>
            <a:endParaRPr sz="1100">
              <a:solidFill>
                <a:srgbClr val="000000"/>
              </a:solidFill>
              <a:latin typeface="Inter"/>
              <a:ea typeface="Inter"/>
              <a:cs typeface="Inter"/>
              <a:sym typeface="Inter"/>
            </a:endParaRPr>
          </a:p>
          <a:p>
            <a:pPr indent="0" lvl="0" marL="0" rtl="0" algn="l">
              <a:lnSpc>
                <a:spcPct val="125000"/>
              </a:lnSpc>
              <a:spcBef>
                <a:spcPts val="0"/>
              </a:spcBef>
              <a:spcAft>
                <a:spcPts val="0"/>
              </a:spcAft>
              <a:buSzPts val="1400"/>
              <a:buNone/>
            </a:pPr>
            <a:r>
              <a:rPr lang="en-GB" sz="2000">
                <a:solidFill>
                  <a:srgbClr val="0000FF"/>
                </a:solidFill>
                <a:latin typeface="Instrument Sans Medium"/>
                <a:ea typeface="Instrument Sans Medium"/>
                <a:cs typeface="Instrument Sans Medium"/>
                <a:sym typeface="Instrument Sans Medium"/>
              </a:rPr>
              <a:t>Why C Language?</a:t>
            </a:r>
            <a:endParaRPr sz="2000">
              <a:solidFill>
                <a:srgbClr val="0000FF"/>
              </a:solidFill>
              <a:latin typeface="Instrument Sans Medium"/>
              <a:ea typeface="Instrument Sans Medium"/>
              <a:cs typeface="Instrument Sans Medium"/>
              <a:sym typeface="Instrument Sans Medium"/>
            </a:endParaRPr>
          </a:p>
          <a:p>
            <a:pPr indent="0" lvl="0" marL="0" rtl="0" algn="l">
              <a:spcBef>
                <a:spcPts val="1400"/>
              </a:spcBef>
              <a:spcAft>
                <a:spcPts val="0"/>
              </a:spcAft>
              <a:buNone/>
            </a:pPr>
            <a:r>
              <a:t/>
            </a:r>
            <a:endParaRPr b="1" sz="13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Char char="●"/>
            </a:pPr>
            <a:r>
              <a:rPr lang="en-GB" sz="1300">
                <a:solidFill>
                  <a:srgbClr val="000000"/>
                </a:solidFill>
                <a:latin typeface="Arial"/>
                <a:ea typeface="Arial"/>
                <a:cs typeface="Arial"/>
                <a:sym typeface="Arial"/>
              </a:rPr>
              <a:t>Flexibility – Used for system and application development.</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Widely Used – Foundation for many modern languages.</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High Performance – Fast and efficient execution.</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Low-Level Access – Direct control over memory.</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Strong Foundation – Builds core programming skills.</a:t>
            </a:r>
            <a:endParaRPr sz="1300">
              <a:solidFill>
                <a:srgbClr val="000000"/>
              </a:solidFill>
              <a:latin typeface="Arial"/>
              <a:ea typeface="Arial"/>
              <a:cs typeface="Arial"/>
              <a:sym typeface="Arial"/>
            </a:endParaRPr>
          </a:p>
          <a:p>
            <a:pPr indent="0" lvl="0" marL="0" rtl="0" algn="l">
              <a:lnSpc>
                <a:spcPct val="162857"/>
              </a:lnSpc>
              <a:spcBef>
                <a:spcPts val="1200"/>
              </a:spcBef>
              <a:spcAft>
                <a:spcPts val="0"/>
              </a:spcAft>
              <a:buNone/>
            </a:pPr>
            <a:r>
              <a:t/>
            </a:r>
            <a:endParaRPr sz="2000">
              <a:solidFill>
                <a:srgbClr val="0000FF"/>
              </a:solidFill>
              <a:latin typeface="Instrument Sans Medium"/>
              <a:ea typeface="Instrument Sans Medium"/>
              <a:cs typeface="Instrument Sans Medium"/>
              <a:sym typeface="Instrument Sans Medium"/>
            </a:endParaRPr>
          </a:p>
        </p:txBody>
      </p:sp>
      <p:pic>
        <p:nvPicPr>
          <p:cNvPr id="134" name="Google Shape;134;p28"/>
          <p:cNvPicPr preferRelativeResize="0"/>
          <p:nvPr/>
        </p:nvPicPr>
        <p:blipFill>
          <a:blip r:embed="rId3">
            <a:alphaModFix/>
          </a:blip>
          <a:stretch>
            <a:fillRect/>
          </a:stretch>
        </p:blipFill>
        <p:spPr>
          <a:xfrm>
            <a:off x="5002250" y="1450075"/>
            <a:ext cx="3990050" cy="2907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Individual Contribution</a:t>
            </a:r>
            <a:endParaRPr/>
          </a:p>
        </p:txBody>
      </p:sp>
      <p:graphicFrame>
        <p:nvGraphicFramePr>
          <p:cNvPr id="140" name="Google Shape;140;p29"/>
          <p:cNvGraphicFramePr/>
          <p:nvPr/>
        </p:nvGraphicFramePr>
        <p:xfrm>
          <a:off x="952500" y="1619250"/>
          <a:ext cx="3000000" cy="3000000"/>
        </p:xfrm>
        <a:graphic>
          <a:graphicData uri="http://schemas.openxmlformats.org/drawingml/2006/table">
            <a:tbl>
              <a:tblPr>
                <a:noFill/>
                <a:tableStyleId>{6C0B3620-7914-4D3E-B1F5-C6CE48056E3F}</a:tableStyleId>
              </a:tblPr>
              <a:tblGrid>
                <a:gridCol w="3619500"/>
                <a:gridCol w="361950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GB" sz="1400" u="none" cap="none" strike="noStrike"/>
                        <a:t>Name</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GB" sz="1400" u="none" cap="none" strike="noStrike"/>
                        <a:t>Work</a:t>
                      </a:r>
                      <a:endParaRPr b="1" sz="1400" u="none" cap="none" strike="noStrike"/>
                    </a:p>
                    <a:p>
                      <a:pPr indent="0" lvl="0" marL="0" marR="0" rtl="0" algn="ctr">
                        <a:lnSpc>
                          <a:spcPct val="100000"/>
                        </a:lnSpc>
                        <a:spcBef>
                          <a:spcPts val="0"/>
                        </a:spcBef>
                        <a:spcAft>
                          <a:spcPts val="0"/>
                        </a:spcAft>
                        <a:buClr>
                          <a:srgbClr val="000000"/>
                        </a:buClr>
                        <a:buSzPts val="1400"/>
                        <a:buFont typeface="Arial"/>
                        <a:buNone/>
                      </a:pPr>
                      <a:r>
                        <a:rPr b="1" lang="en-GB" sz="1400" u="none" cap="none" strike="noStrike"/>
                        <a:t>(Report/Presentation/Algorithm Design/Implementation) </a:t>
                      </a:r>
                      <a:endParaRPr b="1"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GB"/>
                        <a:t>Aditya Awale</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Tetris Game</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GB"/>
                        <a:t>Arham Gadiya</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Tic-Tac-Toe Game</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GB"/>
                        <a:t>Dhruv Bapat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Minesweeper</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GB"/>
                        <a:t>Aarush Majumdar</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Blackjack and Application control</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None/>
                      </a:pPr>
                      <a:r>
                        <a:rPr lang="en-GB"/>
                        <a:t>Nandan Pattanshetti</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a:t>Trial By Combat</a:t>
                      </a:r>
                      <a:endParaRPr sz="1400" u="none" cap="none" strike="noStrike"/>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0"/>
          <p:cNvSpPr txBox="1"/>
          <p:nvPr>
            <p:ph type="title"/>
          </p:nvPr>
        </p:nvSpPr>
        <p:spPr>
          <a:xfrm>
            <a:off x="311700" y="84750"/>
            <a:ext cx="8520600" cy="529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Summary of Literature Survey</a:t>
            </a:r>
            <a:endParaRPr/>
          </a:p>
        </p:txBody>
      </p:sp>
      <p:graphicFrame>
        <p:nvGraphicFramePr>
          <p:cNvPr id="146" name="Google Shape;146;p30"/>
          <p:cNvGraphicFramePr/>
          <p:nvPr/>
        </p:nvGraphicFramePr>
        <p:xfrm>
          <a:off x="311700" y="790800"/>
          <a:ext cx="3000000" cy="3000000"/>
        </p:xfrm>
        <a:graphic>
          <a:graphicData uri="http://schemas.openxmlformats.org/drawingml/2006/table">
            <a:tbl>
              <a:tblPr>
                <a:noFill/>
                <a:tableStyleId>{6C0B3620-7914-4D3E-B1F5-C6CE48056E3F}</a:tableStyleId>
              </a:tblPr>
              <a:tblGrid>
                <a:gridCol w="2180175"/>
                <a:gridCol w="2180175"/>
                <a:gridCol w="2180175"/>
                <a:gridCol w="2180175"/>
              </a:tblGrid>
              <a:tr h="752300">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Paper Ref.</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Title of Paper</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Method Used</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How is it useful for your project</a:t>
                      </a:r>
                      <a:endParaRPr sz="1400" u="none" cap="none" strike="noStrike"/>
                    </a:p>
                  </a:txBody>
                  <a:tcPr marT="91425" marB="91425" marR="91425" marL="91425"/>
                </a:tc>
              </a:tr>
              <a:tr h="797050">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Ref[1]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Browser Game Engines Survey</a:t>
                      </a:r>
                      <a:endParaRPr sz="15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HTML5, Canvas, WebGL</a:t>
                      </a:r>
                      <a:endParaRPr sz="15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Understanding core web game technologies.</a:t>
                      </a:r>
                      <a:endParaRPr sz="1500" u="none" cap="none" strike="noStrike"/>
                    </a:p>
                  </a:txBody>
                  <a:tcPr marT="91425" marB="91425" marR="91425" marL="91425"/>
                </a:tc>
              </a:tr>
              <a:tr h="797050">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Ref[2]</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React.js for Real-Time Games</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Component-based design</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Implementing efficient UI and state updates.</a:t>
                      </a:r>
                      <a:endParaRPr sz="1500" u="none" cap="none" strike="noStrike"/>
                    </a:p>
                  </a:txBody>
                  <a:tcPr marT="91425" marB="91425" marR="91425" marL="91425"/>
                </a:tc>
              </a:tr>
              <a:tr h="797050">
                <a:tc>
                  <a:txBody>
                    <a:bodyPr/>
                    <a:lstStyle/>
                    <a:p>
                      <a:pPr indent="0" lvl="0" marL="0" marR="0" rtl="0" algn="ctr">
                        <a:lnSpc>
                          <a:spcPct val="100000"/>
                        </a:lnSpc>
                        <a:spcBef>
                          <a:spcPts val="0"/>
                        </a:spcBef>
                        <a:spcAft>
                          <a:spcPts val="0"/>
                        </a:spcAft>
                        <a:buNone/>
                      </a:pPr>
                      <a:r>
                        <a:rPr lang="en-GB"/>
                        <a:t>Ref[3]</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Card Game Simulation</a:t>
                      </a:r>
                      <a:endParaRPr sz="15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Monte Carlo Simulation</a:t>
                      </a:r>
                      <a:endParaRPr sz="15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Testing game strategies via simulation.</a:t>
                      </a:r>
                      <a:endParaRPr sz="1500" u="none" cap="none" strike="noStrike"/>
                    </a:p>
                  </a:txBody>
                  <a:tcPr marT="91425" marB="91425" marR="91425" marL="91425"/>
                </a:tc>
              </a:tr>
              <a:tr h="797050">
                <a:tc>
                  <a:txBody>
                    <a:bodyPr/>
                    <a:lstStyle/>
                    <a:p>
                      <a:pPr indent="0" lvl="0" marL="0" marR="0" rtl="0" algn="ctr">
                        <a:lnSpc>
                          <a:spcPct val="100000"/>
                        </a:lnSpc>
                        <a:spcBef>
                          <a:spcPts val="0"/>
                        </a:spcBef>
                        <a:spcAft>
                          <a:spcPts val="0"/>
                        </a:spcAft>
                        <a:buNone/>
                      </a:pPr>
                      <a:r>
                        <a:rPr lang="en-GB"/>
                        <a:t>Ref[4]</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Responsive Web Design</a:t>
                      </a:r>
                      <a:endParaRPr sz="15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CSS Grid, Flexbox</a:t>
                      </a:r>
                      <a:endParaRPr sz="15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Ensuring UI adapts to all screen sizes.</a:t>
                      </a:r>
                      <a:endParaRPr sz="1500" u="none" cap="none" strike="noStrike"/>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graphicFrame>
        <p:nvGraphicFramePr>
          <p:cNvPr id="151" name="Google Shape;151;p31"/>
          <p:cNvGraphicFramePr/>
          <p:nvPr/>
        </p:nvGraphicFramePr>
        <p:xfrm>
          <a:off x="187900" y="214250"/>
          <a:ext cx="3000000" cy="3000000"/>
        </p:xfrm>
        <a:graphic>
          <a:graphicData uri="http://schemas.openxmlformats.org/drawingml/2006/table">
            <a:tbl>
              <a:tblPr>
                <a:noFill/>
                <a:tableStyleId>{6C0B3620-7914-4D3E-B1F5-C6CE48056E3F}</a:tableStyleId>
              </a:tblPr>
              <a:tblGrid>
                <a:gridCol w="2370975"/>
                <a:gridCol w="2140125"/>
                <a:gridCol w="2140125"/>
                <a:gridCol w="2140125"/>
              </a:tblGrid>
              <a:tr h="771800">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Paper Ref.</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GB" sz="1400" u="none" cap="none" strike="noStrike"/>
                        <a:t>(as per order of references)</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Title of Paper</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Method Used</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How is it useful for your project</a:t>
                      </a:r>
                      <a:endParaRPr sz="1400" u="none" cap="none" strike="noStrike"/>
                    </a:p>
                  </a:txBody>
                  <a:tcPr marT="91425" marB="91425" marR="91425" marL="91425"/>
                </a:tc>
              </a:tr>
              <a:tr h="677425">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Ref[</a:t>
                      </a:r>
                      <a:r>
                        <a:rPr lang="en-GB"/>
                        <a:t>5</a:t>
                      </a:r>
                      <a:r>
                        <a:rPr lang="en-GB"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JS Game Loops</a:t>
                      </a:r>
                      <a:endParaRPr sz="125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requestAnimationFrame</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Optimizing frame rates and performance.</a:t>
                      </a:r>
                      <a:endParaRPr sz="1250" u="none" cap="none" strike="noStrike"/>
                    </a:p>
                  </a:txBody>
                  <a:tcPr marT="91425" marB="91425" marR="91425" marL="91425"/>
                </a:tc>
              </a:tr>
              <a:tr h="579475">
                <a:tc>
                  <a:txBody>
                    <a:bodyPr/>
                    <a:lstStyle/>
                    <a:p>
                      <a:pPr indent="0" lvl="0" marL="0" marR="0" rtl="0" algn="ctr">
                        <a:lnSpc>
                          <a:spcPct val="100000"/>
                        </a:lnSpc>
                        <a:spcBef>
                          <a:spcPts val="0"/>
                        </a:spcBef>
                        <a:spcAft>
                          <a:spcPts val="0"/>
                        </a:spcAft>
                        <a:buClr>
                          <a:srgbClr val="000000"/>
                        </a:buClr>
                        <a:buSzPts val="1400"/>
                        <a:buFont typeface="Arial"/>
                        <a:buNone/>
                      </a:pPr>
                      <a:r>
                        <a:rPr lang="en-GB" sz="1400" u="none" cap="none" strike="noStrike"/>
                        <a:t>Ref[</a:t>
                      </a:r>
                      <a:r>
                        <a:rPr lang="en-GB"/>
                        <a:t>6</a:t>
                      </a:r>
                      <a:r>
                        <a:rPr lang="en-GB" sz="1400" u="none" cap="none" strike="noStrike"/>
                        <a:t>]</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Multiplayer Architectures</a:t>
                      </a:r>
                      <a:endParaRPr sz="18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WebSockets, REST</a:t>
                      </a:r>
                      <a:endParaRPr sz="125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50">
                          <a:latin typeface="Inter"/>
                          <a:ea typeface="Inter"/>
                          <a:cs typeface="Inter"/>
                          <a:sym typeface="Inter"/>
                        </a:rPr>
                        <a:t>Designing low-latency networking.</a:t>
                      </a:r>
                      <a:endParaRPr sz="1700" u="none" cap="none" strike="noStrike"/>
                    </a:p>
                  </a:txBody>
                  <a:tcPr marT="91425" marB="91425" marR="91425" marL="91425"/>
                </a:tc>
              </a:tr>
              <a:tr h="525025">
                <a:tc>
                  <a:txBody>
                    <a:bodyPr/>
                    <a:lstStyle/>
                    <a:p>
                      <a:pPr indent="0" lvl="0" marL="0" marR="0" rtl="0" algn="ctr">
                        <a:lnSpc>
                          <a:spcPct val="100000"/>
                        </a:lnSpc>
                        <a:spcBef>
                          <a:spcPts val="0"/>
                        </a:spcBef>
                        <a:spcAft>
                          <a:spcPts val="0"/>
                        </a:spcAft>
                        <a:buNone/>
                      </a:pPr>
                      <a:r>
                        <a:rPr lang="en-GB"/>
                        <a:t>Ref[7]</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Game UX Design</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User Testing, Heuristics</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Enhancing engagement via intuitive design.</a:t>
                      </a:r>
                      <a:endParaRPr sz="1600" u="none" cap="none" strike="noStrike"/>
                    </a:p>
                  </a:txBody>
                  <a:tcPr marT="91425" marB="91425" marR="91425" marL="91425"/>
                </a:tc>
              </a:tr>
              <a:tr h="546800">
                <a:tc>
                  <a:txBody>
                    <a:bodyPr/>
                    <a:lstStyle/>
                    <a:p>
                      <a:pPr indent="0" lvl="0" marL="0" marR="0" rtl="0" algn="ctr">
                        <a:lnSpc>
                          <a:spcPct val="100000"/>
                        </a:lnSpc>
                        <a:spcBef>
                          <a:spcPts val="0"/>
                        </a:spcBef>
                        <a:spcAft>
                          <a:spcPts val="0"/>
                        </a:spcAft>
                        <a:buNone/>
                      </a:pPr>
                      <a:r>
                        <a:rPr lang="en-GB"/>
                        <a:t>Ref[8]</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CSS Animations</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Keyframes, Transitions</a:t>
                      </a:r>
                      <a:endParaRPr sz="16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Lightweight UI feedback and effects.</a:t>
                      </a:r>
                      <a:endParaRPr sz="1600" u="none" cap="none" strike="noStrike"/>
                    </a:p>
                  </a:txBody>
                  <a:tcPr marT="91425" marB="91425" marR="91425" marL="91425"/>
                </a:tc>
              </a:tr>
              <a:tr h="546800">
                <a:tc>
                  <a:txBody>
                    <a:bodyPr/>
                    <a:lstStyle/>
                    <a:p>
                      <a:pPr indent="0" lvl="0" marL="0" marR="0" rtl="0" algn="ctr">
                        <a:lnSpc>
                          <a:spcPct val="100000"/>
                        </a:lnSpc>
                        <a:spcBef>
                          <a:spcPts val="0"/>
                        </a:spcBef>
                        <a:spcAft>
                          <a:spcPts val="0"/>
                        </a:spcAft>
                        <a:buNone/>
                      </a:pPr>
                      <a:r>
                        <a:rPr lang="en-GB"/>
                        <a:t>Ref[9]</a:t>
                      </a:r>
                      <a:endParaRPr/>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Python Terminal Games</a:t>
                      </a:r>
                      <a:endParaRPr sz="1250">
                        <a:latin typeface="Inter"/>
                        <a:ea typeface="Inter"/>
                        <a:cs typeface="Inter"/>
                        <a:sym typeface="Inter"/>
                      </a:endParaRPr>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OOP, Event-driven</a:t>
                      </a:r>
                      <a:endParaRPr sz="1250">
                        <a:latin typeface="Inter"/>
                        <a:ea typeface="Inter"/>
                        <a:cs typeface="Inter"/>
                        <a:sym typeface="Inter"/>
                      </a:endParaRPr>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Structuring logic with object principles.</a:t>
                      </a:r>
                      <a:endParaRPr sz="1250">
                        <a:latin typeface="Inter"/>
                        <a:ea typeface="Inter"/>
                        <a:cs typeface="Inter"/>
                        <a:sym typeface="Inter"/>
                      </a:endParaRPr>
                    </a:p>
                  </a:txBody>
                  <a:tcPr marT="91425" marB="91425" marR="91425" marL="91425"/>
                </a:tc>
              </a:tr>
              <a:tr h="582625">
                <a:tc>
                  <a:txBody>
                    <a:bodyPr/>
                    <a:lstStyle/>
                    <a:p>
                      <a:pPr indent="0" lvl="0" marL="0" marR="0" rtl="0" algn="ctr">
                        <a:lnSpc>
                          <a:spcPct val="100000"/>
                        </a:lnSpc>
                        <a:spcBef>
                          <a:spcPts val="0"/>
                        </a:spcBef>
                        <a:spcAft>
                          <a:spcPts val="0"/>
                        </a:spcAft>
                        <a:buNone/>
                      </a:pPr>
                      <a:r>
                        <a:rPr lang="en-GB"/>
                        <a:t>Ref[10]</a:t>
                      </a:r>
                      <a:endParaRPr/>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Combinatorial Game Theory</a:t>
                      </a:r>
                      <a:endParaRPr sz="1250">
                        <a:latin typeface="Inter"/>
                        <a:ea typeface="Inter"/>
                        <a:cs typeface="Inter"/>
                        <a:sym typeface="Inter"/>
                      </a:endParaRPr>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Minimax, Game Trees</a:t>
                      </a:r>
                      <a:endParaRPr sz="1250">
                        <a:latin typeface="Inter"/>
                        <a:ea typeface="Inter"/>
                        <a:cs typeface="Inter"/>
                        <a:sym typeface="Inter"/>
                      </a:endParaRPr>
                    </a:p>
                  </a:txBody>
                  <a:tcPr marT="91425" marB="91425" marR="91425" marL="91425"/>
                </a:tc>
                <a:tc>
                  <a:txBody>
                    <a:bodyPr/>
                    <a:lstStyle/>
                    <a:p>
                      <a:pPr indent="0" lvl="0" marL="0" marR="0" rtl="0" algn="ctr">
                        <a:lnSpc>
                          <a:spcPct val="100000"/>
                        </a:lnSpc>
                        <a:spcBef>
                          <a:spcPts val="0"/>
                        </a:spcBef>
                        <a:spcAft>
                          <a:spcPts val="0"/>
                        </a:spcAft>
                        <a:buNone/>
                      </a:pPr>
                      <a:r>
                        <a:rPr lang="en-GB" sz="1150">
                          <a:latin typeface="Inter"/>
                          <a:ea typeface="Inter"/>
                          <a:cs typeface="Inter"/>
                          <a:sym typeface="Inter"/>
                        </a:rPr>
                        <a:t>Core AI logic for turn-based games.</a:t>
                      </a:r>
                      <a:endParaRPr sz="1250">
                        <a:latin typeface="Inter"/>
                        <a:ea typeface="Inter"/>
                        <a:cs typeface="Inter"/>
                        <a:sym typeface="Inte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Proposed System</a:t>
            </a:r>
            <a:endParaRPr/>
          </a:p>
        </p:txBody>
      </p:sp>
      <p:sp>
        <p:nvSpPr>
          <p:cNvPr id="157" name="Google Shape;157;p32"/>
          <p:cNvSpPr txBox="1"/>
          <p:nvPr>
            <p:ph idx="1" type="body"/>
          </p:nvPr>
        </p:nvSpPr>
        <p:spPr>
          <a:xfrm>
            <a:off x="311700" y="1152425"/>
            <a:ext cx="8292300" cy="3169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800"/>
              <a:buNone/>
            </a:pPr>
            <a:br>
              <a:rPr lang="en-GB"/>
            </a:br>
            <a:r>
              <a:rPr lang="en-GB">
                <a:solidFill>
                  <a:srgbClr val="000000"/>
                </a:solidFill>
                <a:highlight>
                  <a:srgbClr val="FFFFFF"/>
                </a:highlight>
                <a:latin typeface="Inter"/>
                <a:ea typeface="Inter"/>
                <a:cs typeface="Inter"/>
                <a:sym typeface="Inter"/>
              </a:rPr>
              <a:t>Arcadex is a multi-language, component-based gaming suite deployed on Vercel. It utilizes a React (JSX) shell for modular routing, allowing independent game components to handle their own state and rendering. The architecture integrates JavaScript for browser-based logic, Python for card simulations, and C for performance-critical combat mechanics. Key technical implementations include BFS flood-fill algorithms for grid interactions and frame-based collision systems for real-time gameplay.</a:t>
            </a:r>
            <a:endParaRPr sz="240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GB" sz="4440"/>
              <a:t>Flowchart</a:t>
            </a:r>
            <a:endParaRPr sz="4540"/>
          </a:p>
        </p:txBody>
      </p:sp>
      <p:sp>
        <p:nvSpPr>
          <p:cNvPr id="163" name="Google Shape;163;p33"/>
          <p:cNvSpPr txBox="1"/>
          <p:nvPr>
            <p:ph idx="1" type="body"/>
          </p:nvPr>
        </p:nvSpPr>
        <p:spPr>
          <a:xfrm>
            <a:off x="377050" y="1266325"/>
            <a:ext cx="8520600" cy="330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SzPts val="1800"/>
              <a:buNone/>
            </a:pPr>
            <a:r>
              <a:rPr lang="en-GB"/>
              <a:t>afadadff</a:t>
            </a:r>
            <a:r>
              <a:rPr lang="en-GB"/>
              <a:t>  fa</a:t>
            </a:r>
            <a:endParaRPr/>
          </a:p>
        </p:txBody>
      </p:sp>
      <p:pic>
        <p:nvPicPr>
          <p:cNvPr id="164" name="Google Shape;164;p33"/>
          <p:cNvPicPr preferRelativeResize="0"/>
          <p:nvPr/>
        </p:nvPicPr>
        <p:blipFill>
          <a:blip r:embed="rId3">
            <a:alphaModFix/>
          </a:blip>
          <a:stretch>
            <a:fillRect/>
          </a:stretch>
        </p:blipFill>
        <p:spPr>
          <a:xfrm>
            <a:off x="3136950" y="110750"/>
            <a:ext cx="5062699" cy="46866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ph type="title"/>
          </p:nvPr>
        </p:nvSpPr>
        <p:spPr>
          <a:xfrm>
            <a:off x="311700" y="0"/>
            <a:ext cx="8520600" cy="720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      Hardware Requirements</a:t>
            </a:r>
            <a:endParaRPr/>
          </a:p>
        </p:txBody>
      </p:sp>
      <p:graphicFrame>
        <p:nvGraphicFramePr>
          <p:cNvPr id="170" name="Google Shape;170;p34"/>
          <p:cNvGraphicFramePr/>
          <p:nvPr/>
        </p:nvGraphicFramePr>
        <p:xfrm>
          <a:off x="847000" y="790925"/>
          <a:ext cx="3000000" cy="3000000"/>
        </p:xfrm>
        <a:graphic>
          <a:graphicData uri="http://schemas.openxmlformats.org/drawingml/2006/table">
            <a:tbl>
              <a:tblPr>
                <a:noFill/>
                <a:tableStyleId>{6C0B3620-7914-4D3E-B1F5-C6CE48056E3F}</a:tableStyleId>
              </a:tblPr>
              <a:tblGrid>
                <a:gridCol w="1938200"/>
                <a:gridCol w="2256075"/>
                <a:gridCol w="3597775"/>
              </a:tblGrid>
              <a:tr h="400900">
                <a:tc>
                  <a:txBody>
                    <a:bodyPr/>
                    <a:lstStyle/>
                    <a:p>
                      <a:pPr indent="0" lvl="0" marL="0" marR="0" rtl="0" algn="ctr">
                        <a:lnSpc>
                          <a:spcPct val="100000"/>
                        </a:lnSpc>
                        <a:spcBef>
                          <a:spcPts val="0"/>
                        </a:spcBef>
                        <a:spcAft>
                          <a:spcPts val="0"/>
                        </a:spcAft>
                        <a:buClr>
                          <a:srgbClr val="000000"/>
                        </a:buClr>
                        <a:buSzPts val="1400"/>
                        <a:buFont typeface="Arial"/>
                        <a:buNone/>
                      </a:pPr>
                      <a:r>
                        <a:rPr b="1" lang="en-GB" sz="1400" u="none" cap="none" strike="noStrike"/>
                        <a:t>Hardware</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b="1" lang="en-GB"/>
                        <a:t>Model</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GB" sz="1400" u="none" cap="none" strike="noStrike"/>
                        <a:t>Justification w.r.t project</a:t>
                      </a:r>
                      <a:endParaRPr b="1" sz="1400" u="none" cap="none" strike="noStrike"/>
                    </a:p>
                  </a:txBody>
                  <a:tcPr marT="91425" marB="91425" marR="91425" marL="91425"/>
                </a:tc>
              </a:tr>
              <a:tr h="740150">
                <a:tc>
                  <a:txBody>
                    <a:bodyPr/>
                    <a:lstStyle/>
                    <a:p>
                      <a:pPr indent="0" lvl="0" marL="0" marR="0" rtl="0" algn="ctr">
                        <a:lnSpc>
                          <a:spcPct val="100000"/>
                        </a:lnSpc>
                        <a:spcBef>
                          <a:spcPts val="0"/>
                        </a:spcBef>
                        <a:spcAft>
                          <a:spcPts val="0"/>
                        </a:spcAft>
                        <a:buClr>
                          <a:srgbClr val="000000"/>
                        </a:buClr>
                        <a:buSzPts val="1400"/>
                        <a:buFont typeface="Arial"/>
                        <a:buNone/>
                      </a:pPr>
                      <a:r>
                        <a:rPr lang="en-GB"/>
                        <a:t>Processor (CPU)</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a:t>Intel Core i5 10th Gen</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200"/>
                        <a:t>Required for efficient compilation and execution of React-based applications and C/Python logic simultaneous.</a:t>
                      </a:r>
                      <a:endParaRPr sz="1200" u="none" cap="none" strike="noStrike"/>
                    </a:p>
                  </a:txBody>
                  <a:tcPr marT="91425" marB="91425" marR="91425" marL="91425"/>
                </a:tc>
              </a:tr>
              <a:tr h="740150">
                <a:tc>
                  <a:txBody>
                    <a:bodyPr/>
                    <a:lstStyle/>
                    <a:p>
                      <a:pPr indent="0" lvl="0" marL="0" marR="0" rtl="0" algn="ctr">
                        <a:lnSpc>
                          <a:spcPct val="100000"/>
                        </a:lnSpc>
                        <a:spcBef>
                          <a:spcPts val="0"/>
                        </a:spcBef>
                        <a:spcAft>
                          <a:spcPts val="0"/>
                        </a:spcAft>
                        <a:buClr>
                          <a:srgbClr val="000000"/>
                        </a:buClr>
                        <a:buSzPts val="1400"/>
                        <a:buFont typeface="Arial"/>
                        <a:buNone/>
                      </a:pPr>
                      <a:r>
                        <a:rPr lang="en-GB"/>
                        <a:t>RAM</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a:t>8 GB DDR4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200"/>
                        <a:t>Ensures smooth multitasking, especially when running development environments like Visual Studio Code.</a:t>
                      </a:r>
                      <a:endParaRPr sz="1200" u="none" cap="none" strike="noStrike"/>
                    </a:p>
                  </a:txBody>
                  <a:tcPr marT="91425" marB="91425" marR="91425" marL="91425"/>
                </a:tc>
              </a:tr>
              <a:tr h="657100">
                <a:tc>
                  <a:txBody>
                    <a:bodyPr/>
                    <a:lstStyle/>
                    <a:p>
                      <a:pPr indent="0" lvl="0" marL="0" marR="0" rtl="0" algn="ctr">
                        <a:lnSpc>
                          <a:spcPct val="100000"/>
                        </a:lnSpc>
                        <a:spcBef>
                          <a:spcPts val="0"/>
                        </a:spcBef>
                        <a:spcAft>
                          <a:spcPts val="0"/>
                        </a:spcAft>
                        <a:buClr>
                          <a:srgbClr val="000000"/>
                        </a:buClr>
                        <a:buSzPts val="1400"/>
                        <a:buFont typeface="Arial"/>
                        <a:buNone/>
                      </a:pPr>
                      <a:r>
                        <a:rPr lang="en-GB"/>
                        <a:t>Graphics Card (GPU)</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a:t>Integrated Graphics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100"/>
                        <a:t>Since Arcadex uses lightweight 2D animations and CSS/JS transitions, integrated graphics are sufficient for rendering web games.</a:t>
                      </a:r>
                      <a:endParaRPr sz="1100" u="none" cap="none" strike="noStrike"/>
                    </a:p>
                  </a:txBody>
                  <a:tcPr marT="91425" marB="91425" marR="91425" marL="91425"/>
                </a:tc>
              </a:tr>
              <a:tr h="770975">
                <a:tc>
                  <a:txBody>
                    <a:bodyPr/>
                    <a:lstStyle/>
                    <a:p>
                      <a:pPr indent="0" lvl="0" marL="0" marR="0" rtl="0" algn="ctr">
                        <a:lnSpc>
                          <a:spcPct val="100000"/>
                        </a:lnSpc>
                        <a:spcBef>
                          <a:spcPts val="0"/>
                        </a:spcBef>
                        <a:spcAft>
                          <a:spcPts val="0"/>
                        </a:spcAft>
                        <a:buClr>
                          <a:srgbClr val="000000"/>
                        </a:buClr>
                        <a:buSzPts val="1400"/>
                        <a:buFont typeface="Arial"/>
                        <a:buNone/>
                      </a:pPr>
                      <a:r>
                        <a:rPr lang="en-GB"/>
                        <a:t>Display</a:t>
                      </a:r>
                      <a:endParaRPr sz="1400" u="none" cap="none" strike="noStrike"/>
                    </a:p>
                  </a:txBody>
                  <a:tcPr marT="91425" marB="91425" marR="91425" marL="91425"/>
                </a:tc>
                <a:tc>
                  <a:txBody>
                    <a:bodyPr/>
                    <a:lstStyle/>
                    <a:p>
                      <a:pPr indent="0" lvl="0" marL="0" rtl="0" algn="ctr">
                        <a:spcBef>
                          <a:spcPts val="0"/>
                        </a:spcBef>
                        <a:spcAft>
                          <a:spcPts val="0"/>
                        </a:spcAft>
                        <a:buNone/>
                      </a:pPr>
                      <a:r>
                        <a:rPr lang="en-GB"/>
                        <a:t>Monitor</a:t>
                      </a:r>
                      <a:endParaRPr sz="1400" u="none" cap="none" strike="noStrike"/>
                    </a:p>
                  </a:txBody>
                  <a:tcPr marT="91425" marB="91425" marR="91425" marL="91425"/>
                </a:tc>
                <a:tc>
                  <a:txBody>
                    <a:bodyPr/>
                    <a:lstStyle/>
                    <a:p>
                      <a:pPr indent="0" lvl="0" marL="0" rtl="0" algn="ctr">
                        <a:spcBef>
                          <a:spcPts val="0"/>
                        </a:spcBef>
                        <a:spcAft>
                          <a:spcPts val="0"/>
                        </a:spcAft>
                        <a:buClr>
                          <a:srgbClr val="000000"/>
                        </a:buClr>
                        <a:buSzPts val="1400"/>
                        <a:buFont typeface="Arial"/>
                        <a:buNone/>
                      </a:pPr>
                      <a:r>
                        <a:rPr lang="en-GB" sz="1200"/>
                        <a:t>Allows responsive UI testing and front-end design validation for different aspect ratios.</a:t>
                      </a:r>
                      <a:endParaRPr sz="1100"/>
                    </a:p>
                    <a:p>
                      <a:pPr indent="0" lvl="0" marL="0" marR="0" rtl="0" algn="ctr">
                        <a:lnSpc>
                          <a:spcPct val="100000"/>
                        </a:lnSpc>
                        <a:spcBef>
                          <a:spcPts val="0"/>
                        </a:spcBef>
                        <a:spcAft>
                          <a:spcPts val="0"/>
                        </a:spcAft>
                        <a:buClr>
                          <a:srgbClr val="000000"/>
                        </a:buClr>
                        <a:buSzPts val="1400"/>
                        <a:buFont typeface="Arial"/>
                        <a:buNone/>
                      </a:pPr>
                      <a:r>
                        <a:t/>
                      </a:r>
                      <a:endParaRPr/>
                    </a:p>
                  </a:txBody>
                  <a:tcPr marT="91425" marB="91425" marR="91425" marL="91425"/>
                </a:tc>
              </a:tr>
              <a:tr h="740150">
                <a:tc>
                  <a:txBody>
                    <a:bodyPr/>
                    <a:lstStyle/>
                    <a:p>
                      <a:pPr indent="0" lvl="0" marL="0" marR="0" rtl="0" algn="ctr">
                        <a:lnSpc>
                          <a:spcPct val="100000"/>
                        </a:lnSpc>
                        <a:spcBef>
                          <a:spcPts val="0"/>
                        </a:spcBef>
                        <a:spcAft>
                          <a:spcPts val="0"/>
                        </a:spcAft>
                        <a:buClr>
                          <a:srgbClr val="000000"/>
                        </a:buClr>
                        <a:buSzPts val="1400"/>
                        <a:buFont typeface="Arial"/>
                        <a:buNone/>
                      </a:pPr>
                      <a:r>
                        <a:rPr lang="en-GB"/>
                        <a:t>Operating System</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None/>
                      </a:pPr>
                      <a:r>
                        <a:rPr lang="en-GB" sz="1300"/>
                        <a:t>Windows 10 / 11 or macOS Monterey</a:t>
                      </a:r>
                      <a:endParaRPr sz="13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sz="1200"/>
                        <a:t>Provides compatibility with Node.js, Python, C compilers, and modern browsers used in testing the web platform.</a:t>
                      </a:r>
                      <a:endParaRPr sz="1200" u="none" cap="none" strike="noStrike"/>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5"/>
          <p:cNvSpPr txBox="1"/>
          <p:nvPr>
            <p:ph type="title"/>
          </p:nvPr>
        </p:nvSpPr>
        <p:spPr>
          <a:xfrm>
            <a:off x="311700" y="108275"/>
            <a:ext cx="8520600" cy="553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    Software Requirements</a:t>
            </a:r>
            <a:endParaRPr/>
          </a:p>
        </p:txBody>
      </p:sp>
      <p:graphicFrame>
        <p:nvGraphicFramePr>
          <p:cNvPr id="176" name="Google Shape;176;p35"/>
          <p:cNvGraphicFramePr/>
          <p:nvPr/>
        </p:nvGraphicFramePr>
        <p:xfrm>
          <a:off x="614663" y="896850"/>
          <a:ext cx="3000000" cy="3000000"/>
        </p:xfrm>
        <a:graphic>
          <a:graphicData uri="http://schemas.openxmlformats.org/drawingml/2006/table">
            <a:tbl>
              <a:tblPr>
                <a:noFill/>
                <a:tableStyleId>{6C0B3620-7914-4D3E-B1F5-C6CE48056E3F}</a:tableStyleId>
              </a:tblPr>
              <a:tblGrid>
                <a:gridCol w="3137425"/>
                <a:gridCol w="4859650"/>
              </a:tblGrid>
              <a:tr h="593975">
                <a:tc>
                  <a:txBody>
                    <a:bodyPr/>
                    <a:lstStyle/>
                    <a:p>
                      <a:pPr indent="0" lvl="0" marL="0" marR="0" rtl="0" algn="ctr">
                        <a:lnSpc>
                          <a:spcPct val="100000"/>
                        </a:lnSpc>
                        <a:spcBef>
                          <a:spcPts val="0"/>
                        </a:spcBef>
                        <a:spcAft>
                          <a:spcPts val="0"/>
                        </a:spcAft>
                        <a:buClr>
                          <a:srgbClr val="000000"/>
                        </a:buClr>
                        <a:buSzPts val="1400"/>
                        <a:buFont typeface="Arial"/>
                        <a:buNone/>
                      </a:pPr>
                      <a:r>
                        <a:rPr b="1" lang="en-GB"/>
                        <a:t>Software </a:t>
                      </a:r>
                      <a:endParaRPr b="1" sz="1400" u="none" cap="none" strike="noStrike"/>
                    </a:p>
                  </a:txBody>
                  <a:tcPr marT="91425" marB="91425" marR="91425" marL="91425"/>
                </a:tc>
                <a:tc>
                  <a:txBody>
                    <a:bodyPr/>
                    <a:lstStyle/>
                    <a:p>
                      <a:pPr indent="0" lvl="0" marL="0" rtl="0" algn="ctr">
                        <a:spcBef>
                          <a:spcPts val="0"/>
                        </a:spcBef>
                        <a:spcAft>
                          <a:spcPts val="0"/>
                        </a:spcAft>
                        <a:buClr>
                          <a:srgbClr val="000000"/>
                        </a:buClr>
                        <a:buSzPts val="1400"/>
                        <a:buFont typeface="Arial"/>
                        <a:buNone/>
                      </a:pPr>
                      <a:r>
                        <a:rPr b="1" lang="en-GB"/>
                        <a:t>Justification w.r.t project</a:t>
                      </a:r>
                      <a:endParaRPr b="1"/>
                    </a:p>
                    <a:p>
                      <a:pPr indent="0" lvl="0" marL="0" marR="0" rtl="0" algn="ctr">
                        <a:lnSpc>
                          <a:spcPct val="100000"/>
                        </a:lnSpc>
                        <a:spcBef>
                          <a:spcPts val="0"/>
                        </a:spcBef>
                        <a:spcAft>
                          <a:spcPts val="0"/>
                        </a:spcAft>
                        <a:buClr>
                          <a:srgbClr val="000000"/>
                        </a:buClr>
                        <a:buSzPts val="1400"/>
                        <a:buFont typeface="Arial"/>
                        <a:buNone/>
                      </a:pPr>
                      <a:r>
                        <a:t/>
                      </a:r>
                      <a:endParaRPr b="1"/>
                    </a:p>
                  </a:txBody>
                  <a:tcPr marT="91425" marB="91425" marR="91425" marL="91425"/>
                </a:tc>
              </a:tr>
              <a:tr h="602050">
                <a:tc>
                  <a:txBody>
                    <a:bodyPr/>
                    <a:lstStyle/>
                    <a:p>
                      <a:pPr indent="0" lvl="0" marL="0" marR="0" rtl="0" algn="ctr">
                        <a:lnSpc>
                          <a:spcPct val="100000"/>
                        </a:lnSpc>
                        <a:spcBef>
                          <a:spcPts val="0"/>
                        </a:spcBef>
                        <a:spcAft>
                          <a:spcPts val="0"/>
                        </a:spcAft>
                        <a:buClr>
                          <a:srgbClr val="000000"/>
                        </a:buClr>
                        <a:buSzPts val="1400"/>
                        <a:buFont typeface="Arial"/>
                        <a:buNone/>
                      </a:pPr>
                      <a:r>
                        <a:rPr lang="en-GB"/>
                        <a:t>Frontend Framework</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Used to create modular game components and manage state across multiple games in a single web app.</a:t>
                      </a:r>
                      <a:endParaRPr sz="1400" u="none" cap="none" strike="noStrike"/>
                    </a:p>
                  </a:txBody>
                  <a:tcPr marT="91425" marB="91425" marR="91425" marL="91425"/>
                </a:tc>
              </a:tr>
              <a:tr h="602050">
                <a:tc>
                  <a:txBody>
                    <a:bodyPr/>
                    <a:lstStyle/>
                    <a:p>
                      <a:pPr indent="0" lvl="0" marL="0" marR="0" rtl="0" algn="ctr">
                        <a:lnSpc>
                          <a:spcPct val="100000"/>
                        </a:lnSpc>
                        <a:spcBef>
                          <a:spcPts val="0"/>
                        </a:spcBef>
                        <a:spcAft>
                          <a:spcPts val="0"/>
                        </a:spcAft>
                        <a:buClr>
                          <a:srgbClr val="000000"/>
                        </a:buClr>
                        <a:buSzPts val="1400"/>
                        <a:buFont typeface="Arial"/>
                        <a:buNone/>
                      </a:pPr>
                      <a:r>
                        <a:rPr lang="en-GB"/>
                        <a:t>Programming Languages</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Multi-language integration: Python for Blackjack logic, C for combat mechanics, JS for UI/game logic. </a:t>
                      </a:r>
                      <a:endParaRPr sz="1400" u="none" cap="none" strike="noStrike"/>
                    </a:p>
                  </a:txBody>
                  <a:tcPr marT="91425" marB="91425" marR="91425" marL="91425"/>
                </a:tc>
              </a:tr>
              <a:tr h="602050">
                <a:tc>
                  <a:txBody>
                    <a:bodyPr/>
                    <a:lstStyle/>
                    <a:p>
                      <a:pPr indent="0" lvl="0" marL="0" marR="0" rtl="0" algn="ctr">
                        <a:lnSpc>
                          <a:spcPct val="100000"/>
                        </a:lnSpc>
                        <a:spcBef>
                          <a:spcPts val="0"/>
                        </a:spcBef>
                        <a:spcAft>
                          <a:spcPts val="0"/>
                        </a:spcAft>
                        <a:buClr>
                          <a:srgbClr val="000000"/>
                        </a:buClr>
                        <a:buSzPts val="1400"/>
                        <a:buFont typeface="Arial"/>
                        <a:buNone/>
                      </a:pPr>
                      <a:r>
                        <a:rPr lang="en-GB"/>
                        <a:t>Frontend Design</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Enables cross-browser compatibility and visually consistent UI/UX across all four games.</a:t>
                      </a:r>
                      <a:endParaRPr sz="1400" u="none" cap="none" strike="noStrike"/>
                    </a:p>
                  </a:txBody>
                  <a:tcPr marT="91425" marB="91425" marR="91425" marL="91425"/>
                </a:tc>
              </a:tr>
              <a:tr h="593975">
                <a:tc>
                  <a:txBody>
                    <a:bodyPr/>
                    <a:lstStyle/>
                    <a:p>
                      <a:pPr indent="0" lvl="0" marL="0" marR="0" rtl="0" algn="ctr">
                        <a:lnSpc>
                          <a:spcPct val="100000"/>
                        </a:lnSpc>
                        <a:spcBef>
                          <a:spcPts val="0"/>
                        </a:spcBef>
                        <a:spcAft>
                          <a:spcPts val="0"/>
                        </a:spcAft>
                        <a:buClr>
                          <a:srgbClr val="000000"/>
                        </a:buClr>
                        <a:buSzPts val="1400"/>
                        <a:buFont typeface="Arial"/>
                        <a:buNone/>
                      </a:pPr>
                      <a:r>
                        <a:rPr lang="en-GB"/>
                        <a:t>Web Deployment Platform</a:t>
                      </a:r>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Simplifies deployment of React apps with continuous integration and global CDN access.</a:t>
                      </a:r>
                      <a:endParaRPr sz="1400" u="none" cap="none" strike="noStrike"/>
                    </a:p>
                  </a:txBody>
                  <a:tcPr marT="91425" marB="91425" marR="91425" marL="91425"/>
                </a:tc>
              </a:tr>
              <a:tr h="593975">
                <a:tc>
                  <a:txBody>
                    <a:bodyPr/>
                    <a:lstStyle/>
                    <a:p>
                      <a:pPr indent="0" lvl="0" marL="0" marR="0" rtl="0" algn="ctr">
                        <a:lnSpc>
                          <a:spcPct val="100000"/>
                        </a:lnSpc>
                        <a:spcBef>
                          <a:spcPts val="0"/>
                        </a:spcBef>
                        <a:spcAft>
                          <a:spcPts val="0"/>
                        </a:spcAft>
                        <a:buClr>
                          <a:srgbClr val="000000"/>
                        </a:buClr>
                        <a:buSzPts val="1400"/>
                        <a:buFont typeface="Arial"/>
                        <a:buNone/>
                      </a:pPr>
                      <a:r>
                        <a:rPr lang="en-GB"/>
                        <a:t>Version Control</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GB"/>
                        <a:t>Used for collaborative coding, maintaining version history, and team-based updates.</a:t>
                      </a:r>
                      <a:endParaRPr sz="1400" u="none" cap="none" strike="noStrike"/>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Implementation and Experimental Setup</a:t>
            </a:r>
            <a:endParaRPr/>
          </a:p>
        </p:txBody>
      </p:sp>
      <p:sp>
        <p:nvSpPr>
          <p:cNvPr id="182" name="Google Shape;182;p36"/>
          <p:cNvSpPr txBox="1"/>
          <p:nvPr>
            <p:ph idx="1" type="body"/>
          </p:nvPr>
        </p:nvSpPr>
        <p:spPr>
          <a:xfrm>
            <a:off x="311700" y="1152425"/>
            <a:ext cx="8520600" cy="332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SzPts val="1800"/>
              <a:buNone/>
            </a:pPr>
            <a:r>
              <a:rPr lang="en-GB" sz="1900">
                <a:solidFill>
                  <a:srgbClr val="000000"/>
                </a:solidFill>
              </a:rPr>
              <a:t>This project was </a:t>
            </a:r>
            <a:r>
              <a:rPr lang="en-GB" sz="1900">
                <a:solidFill>
                  <a:srgbClr val="000000"/>
                </a:solidFill>
              </a:rPr>
              <a:t>implemented</a:t>
            </a:r>
            <a:r>
              <a:rPr lang="en-GB" sz="1900">
                <a:solidFill>
                  <a:srgbClr val="000000"/>
                </a:solidFill>
              </a:rPr>
              <a:t> and stored in GitHub repository. For the application, the github had it’s own other repository for frontend, backend, javascript was used for making UI design , saving login screen information and python for backend . The games were made in C language.</a:t>
            </a:r>
            <a:endParaRPr sz="1900">
              <a:solidFill>
                <a:srgbClr val="000000"/>
              </a:solidFill>
            </a:endParaRPr>
          </a:p>
          <a:p>
            <a:pPr indent="0" lvl="0" marL="0" rtl="0" algn="l">
              <a:lnSpc>
                <a:spcPct val="115000"/>
              </a:lnSpc>
              <a:spcBef>
                <a:spcPts val="1200"/>
              </a:spcBef>
              <a:spcAft>
                <a:spcPts val="1200"/>
              </a:spcAft>
              <a:buSzPts val="1800"/>
              <a:buNone/>
            </a:pPr>
            <a:r>
              <a:rPr lang="en-GB" sz="1900">
                <a:solidFill>
                  <a:srgbClr val="000000"/>
                </a:solidFill>
              </a:rPr>
              <a:t>The setup for this was </a:t>
            </a:r>
            <a:r>
              <a:rPr lang="en-GB" sz="1900">
                <a:solidFill>
                  <a:srgbClr val="000000"/>
                </a:solidFill>
              </a:rPr>
              <a:t>different</a:t>
            </a:r>
            <a:r>
              <a:rPr lang="en-GB" sz="1900">
                <a:solidFill>
                  <a:srgbClr val="000000"/>
                </a:solidFill>
              </a:rPr>
              <a:t> laptops and mobile phones so that we could run it on different devices and still run it. It had an multiplayer category as well for 2 players to play within other devices. The app could be shared through links.</a:t>
            </a:r>
            <a:endParaRPr sz="19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Results </a:t>
            </a:r>
            <a:endParaRPr/>
          </a:p>
        </p:txBody>
      </p:sp>
      <p:sp>
        <p:nvSpPr>
          <p:cNvPr id="188" name="Google Shape;188;p37"/>
          <p:cNvSpPr txBox="1"/>
          <p:nvPr>
            <p:ph idx="1" type="body"/>
          </p:nvPr>
        </p:nvSpPr>
        <p:spPr>
          <a:xfrm>
            <a:off x="311700" y="1168975"/>
            <a:ext cx="8520600" cy="3302700"/>
          </a:xfrm>
          <a:prstGeom prst="rect">
            <a:avLst/>
          </a:prstGeom>
          <a:noFill/>
          <a:ln>
            <a:noFill/>
          </a:ln>
        </p:spPr>
        <p:txBody>
          <a:bodyPr anchorCtr="0" anchor="t" bIns="91425" lIns="91425" spcFirstLastPara="1" rIns="91425" wrap="square" tIns="91425">
            <a:normAutofit fontScale="62500" lnSpcReduction="10000"/>
          </a:bodyPr>
          <a:lstStyle/>
          <a:p>
            <a:pPr indent="0" lvl="0" marL="0" rtl="0" algn="l">
              <a:lnSpc>
                <a:spcPct val="115000"/>
              </a:lnSpc>
              <a:spcBef>
                <a:spcPts val="0"/>
              </a:spcBef>
              <a:spcAft>
                <a:spcPts val="0"/>
              </a:spcAft>
              <a:buSzPct val="100000"/>
              <a:buNone/>
            </a:pPr>
            <a:r>
              <a:t/>
            </a:r>
            <a:endParaRPr/>
          </a:p>
          <a:p>
            <a:pPr indent="0" lvl="0" marL="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0"/>
              </a:spcAft>
              <a:buSzPct val="52457"/>
              <a:buNone/>
            </a:pPr>
            <a:r>
              <a:rPr lang="en-GB" sz="3431">
                <a:solidFill>
                  <a:srgbClr val="000000"/>
                </a:solidFill>
              </a:rPr>
              <a:t>HOME SCREEN -</a:t>
            </a:r>
            <a:endParaRPr sz="3431">
              <a:solidFill>
                <a:srgbClr val="000000"/>
              </a:solidFill>
            </a:endParaRPr>
          </a:p>
          <a:p>
            <a:pPr indent="0" lvl="0" marL="0" rtl="0" algn="l">
              <a:lnSpc>
                <a:spcPct val="115000"/>
              </a:lnSpc>
              <a:spcBef>
                <a:spcPts val="1200"/>
              </a:spcBef>
              <a:spcAft>
                <a:spcPts val="0"/>
              </a:spcAft>
              <a:buSzPct val="52457"/>
              <a:buNone/>
            </a:pPr>
            <a:r>
              <a:rPr lang="en-GB" sz="3431">
                <a:solidFill>
                  <a:srgbClr val="000000"/>
                </a:solidFill>
              </a:rPr>
              <a:t>(Vercel App)</a:t>
            </a:r>
            <a:endParaRPr sz="3431">
              <a:solidFill>
                <a:srgbClr val="000000"/>
              </a:solidFill>
            </a:endParaRPr>
          </a:p>
          <a:p>
            <a:pPr indent="0" lvl="0" marL="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0"/>
              </a:spcAft>
              <a:buSzPct val="100000"/>
              <a:buNone/>
            </a:pPr>
            <a:r>
              <a:t/>
            </a:r>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100000"/>
              <a:buNone/>
            </a:pPr>
            <a:r>
              <a:t/>
            </a:r>
            <a:endParaRPr/>
          </a:p>
        </p:txBody>
      </p:sp>
      <p:pic>
        <p:nvPicPr>
          <p:cNvPr id="189" name="Google Shape;189;p37"/>
          <p:cNvPicPr preferRelativeResize="0"/>
          <p:nvPr/>
        </p:nvPicPr>
        <p:blipFill rotWithShape="1">
          <a:blip r:embed="rId3">
            <a:alphaModFix/>
          </a:blip>
          <a:srcRect b="15664" l="0" r="0" t="15664"/>
          <a:stretch/>
        </p:blipFill>
        <p:spPr>
          <a:xfrm>
            <a:off x="3007150" y="1168975"/>
            <a:ext cx="4656726" cy="32227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Results </a:t>
            </a:r>
            <a:endParaRPr/>
          </a:p>
        </p:txBody>
      </p:sp>
      <p:sp>
        <p:nvSpPr>
          <p:cNvPr id="195" name="Google Shape;195;p38"/>
          <p:cNvSpPr txBox="1"/>
          <p:nvPr>
            <p:ph idx="1" type="body"/>
          </p:nvPr>
        </p:nvSpPr>
        <p:spPr>
          <a:xfrm>
            <a:off x="311700" y="1168975"/>
            <a:ext cx="8520600" cy="31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GB">
                <a:solidFill>
                  <a:srgbClr val="000000"/>
                </a:solidFill>
              </a:rPr>
              <a:t>            MINESWEEPER                      BLACKJACK                        TIC-TAC-TOE</a:t>
            </a:r>
            <a:endParaRPr>
              <a:solidFill>
                <a:srgbClr val="000000"/>
              </a:solidFill>
            </a:endParaRPr>
          </a:p>
        </p:txBody>
      </p:sp>
      <p:pic>
        <p:nvPicPr>
          <p:cNvPr id="196" name="Google Shape;196;p38"/>
          <p:cNvPicPr preferRelativeResize="0"/>
          <p:nvPr/>
        </p:nvPicPr>
        <p:blipFill>
          <a:blip r:embed="rId3">
            <a:alphaModFix/>
          </a:blip>
          <a:stretch>
            <a:fillRect/>
          </a:stretch>
        </p:blipFill>
        <p:spPr>
          <a:xfrm>
            <a:off x="492169" y="1324632"/>
            <a:ext cx="2398500" cy="2494225"/>
          </a:xfrm>
          <a:prstGeom prst="rect">
            <a:avLst/>
          </a:prstGeom>
          <a:noFill/>
          <a:ln>
            <a:noFill/>
          </a:ln>
        </p:spPr>
      </p:pic>
      <p:pic>
        <p:nvPicPr>
          <p:cNvPr id="197" name="Google Shape;197;p38"/>
          <p:cNvPicPr preferRelativeResize="0"/>
          <p:nvPr/>
        </p:nvPicPr>
        <p:blipFill>
          <a:blip r:embed="rId4">
            <a:alphaModFix/>
          </a:blip>
          <a:stretch>
            <a:fillRect/>
          </a:stretch>
        </p:blipFill>
        <p:spPr>
          <a:xfrm>
            <a:off x="3231425" y="1324625"/>
            <a:ext cx="2550301" cy="2494224"/>
          </a:xfrm>
          <a:prstGeom prst="rect">
            <a:avLst/>
          </a:prstGeom>
          <a:noFill/>
          <a:ln>
            <a:noFill/>
          </a:ln>
        </p:spPr>
      </p:pic>
      <p:pic>
        <p:nvPicPr>
          <p:cNvPr id="198" name="Google Shape;198;p38"/>
          <p:cNvPicPr preferRelativeResize="0"/>
          <p:nvPr/>
        </p:nvPicPr>
        <p:blipFill>
          <a:blip r:embed="rId5">
            <a:alphaModFix/>
          </a:blip>
          <a:stretch>
            <a:fillRect/>
          </a:stretch>
        </p:blipFill>
        <p:spPr>
          <a:xfrm>
            <a:off x="6122475" y="1324625"/>
            <a:ext cx="2628525" cy="249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Results </a:t>
            </a:r>
            <a:endParaRPr/>
          </a:p>
        </p:txBody>
      </p:sp>
      <p:sp>
        <p:nvSpPr>
          <p:cNvPr id="204" name="Google Shape;204;p39"/>
          <p:cNvSpPr txBox="1"/>
          <p:nvPr>
            <p:ph idx="1" type="body"/>
          </p:nvPr>
        </p:nvSpPr>
        <p:spPr>
          <a:xfrm>
            <a:off x="311700" y="1168975"/>
            <a:ext cx="8520600" cy="36285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00000"/>
              <a:buNone/>
            </a:pPr>
            <a:r>
              <a:t/>
            </a:r>
            <a:endParaRPr/>
          </a:p>
          <a:p>
            <a:pPr indent="0" lvl="0" marL="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0"/>
              </a:spcAft>
              <a:buSzPct val="52457"/>
              <a:buNone/>
            </a:pPr>
            <a:r>
              <a:t/>
            </a:r>
            <a:endParaRPr sz="3431">
              <a:solidFill>
                <a:srgbClr val="000000"/>
              </a:solidFill>
            </a:endParaRPr>
          </a:p>
          <a:p>
            <a:pPr indent="0" lvl="0" marL="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0"/>
              </a:spcAft>
              <a:buSzPct val="100000"/>
              <a:buNone/>
            </a:pPr>
            <a:r>
              <a:t/>
            </a:r>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1200"/>
              </a:spcAft>
              <a:buSzPct val="86301"/>
              <a:buNone/>
            </a:pPr>
            <a:r>
              <a:rPr lang="en-GB"/>
              <a:t>                 </a:t>
            </a:r>
            <a:r>
              <a:rPr lang="en-GB" sz="2085">
                <a:solidFill>
                  <a:srgbClr val="000000"/>
                </a:solidFill>
              </a:rPr>
              <a:t>  TRIAL-BY-COMBAT                                        TETRIS</a:t>
            </a:r>
            <a:endParaRPr sz="2085">
              <a:solidFill>
                <a:srgbClr val="000000"/>
              </a:solidFill>
            </a:endParaRPr>
          </a:p>
        </p:txBody>
      </p:sp>
      <p:pic>
        <p:nvPicPr>
          <p:cNvPr id="205" name="Google Shape;205;p39"/>
          <p:cNvPicPr preferRelativeResize="0"/>
          <p:nvPr/>
        </p:nvPicPr>
        <p:blipFill>
          <a:blip r:embed="rId3">
            <a:alphaModFix/>
          </a:blip>
          <a:stretch>
            <a:fillRect/>
          </a:stretch>
        </p:blipFill>
        <p:spPr>
          <a:xfrm>
            <a:off x="580674" y="1280538"/>
            <a:ext cx="3026825" cy="2582424"/>
          </a:xfrm>
          <a:prstGeom prst="rect">
            <a:avLst/>
          </a:prstGeom>
          <a:noFill/>
          <a:ln>
            <a:noFill/>
          </a:ln>
        </p:spPr>
      </p:pic>
      <p:pic>
        <p:nvPicPr>
          <p:cNvPr id="206" name="Google Shape;206;p39"/>
          <p:cNvPicPr preferRelativeResize="0"/>
          <p:nvPr/>
        </p:nvPicPr>
        <p:blipFill rotWithShape="1">
          <a:blip r:embed="rId4">
            <a:alphaModFix/>
          </a:blip>
          <a:srcRect b="-8843" l="0" r="2780" t="5054"/>
          <a:stretch/>
        </p:blipFill>
        <p:spPr>
          <a:xfrm>
            <a:off x="4572000" y="729100"/>
            <a:ext cx="3207975" cy="3628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 Conclusion </a:t>
            </a:r>
            <a:endParaRPr/>
          </a:p>
        </p:txBody>
      </p:sp>
      <p:sp>
        <p:nvSpPr>
          <p:cNvPr id="212" name="Google Shape;212;p40"/>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25000"/>
          </a:bodyPr>
          <a:lstStyle/>
          <a:p>
            <a:pPr indent="0" lvl="0" marL="0" rtl="0" algn="l">
              <a:spcBef>
                <a:spcPts val="1200"/>
              </a:spcBef>
              <a:spcAft>
                <a:spcPts val="0"/>
              </a:spcAft>
              <a:buNone/>
            </a:pPr>
            <a:r>
              <a:rPr lang="en-GB" sz="6476">
                <a:solidFill>
                  <a:srgbClr val="000000"/>
                </a:solidFill>
                <a:latin typeface="Inter"/>
                <a:ea typeface="Inter"/>
                <a:cs typeface="Inter"/>
                <a:sym typeface="Inter"/>
              </a:rPr>
              <a:t>The project made </a:t>
            </a:r>
            <a:r>
              <a:rPr lang="en-GB" sz="6476">
                <a:solidFill>
                  <a:srgbClr val="000000"/>
                </a:solidFill>
                <a:latin typeface="Inter"/>
                <a:ea typeface="Inter"/>
                <a:cs typeface="Inter"/>
                <a:sym typeface="Inter"/>
              </a:rPr>
              <a:t>using Vercel, features a collection of 5 mini games as our project, each developed by an individual team member. This project shows our ability to design and implement browser games using modern technology. Each game reflects the unique creativity and coding skills of its developer, while the platform as a whole demonstrates our teamwork and ability to integrate multiple projects into a single, seamless experience.</a:t>
            </a:r>
            <a:endParaRPr sz="6476">
              <a:solidFill>
                <a:srgbClr val="000000"/>
              </a:solidFill>
              <a:latin typeface="Inter"/>
              <a:ea typeface="Inter"/>
              <a:cs typeface="Inter"/>
              <a:sym typeface="Inter"/>
            </a:endParaRPr>
          </a:p>
          <a:p>
            <a:pPr indent="0" lvl="0" marL="0" rtl="0" algn="l">
              <a:spcBef>
                <a:spcPts val="1200"/>
              </a:spcBef>
              <a:spcAft>
                <a:spcPts val="1200"/>
              </a:spcAft>
              <a:buNone/>
            </a:pPr>
            <a:r>
              <a:rPr lang="en-GB" sz="6476">
                <a:solidFill>
                  <a:srgbClr val="000000"/>
                </a:solidFill>
                <a:latin typeface="Inter"/>
                <a:ea typeface="Inter"/>
                <a:cs typeface="Inter"/>
                <a:sym typeface="Inter"/>
              </a:rPr>
              <a:t>Through this project, we gained hands-on experience in web development, game logic, UI design, and cloud deployment, making Arcade  not just a game platform, but a testament to what collaborative effort and innovation can achieve.</a:t>
            </a:r>
            <a:endParaRPr sz="7176">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References</a:t>
            </a:r>
            <a:endParaRPr/>
          </a:p>
        </p:txBody>
      </p:sp>
      <p:sp>
        <p:nvSpPr>
          <p:cNvPr id="218" name="Google Shape;218;p41"/>
          <p:cNvSpPr txBox="1"/>
          <p:nvPr>
            <p:ph idx="1" type="body"/>
          </p:nvPr>
        </p:nvSpPr>
        <p:spPr>
          <a:xfrm>
            <a:off x="311700" y="1061650"/>
            <a:ext cx="8520600" cy="37782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just">
              <a:spcBef>
                <a:spcPts val="1200"/>
              </a:spcBef>
              <a:spcAft>
                <a:spcPts val="0"/>
              </a:spcAft>
              <a:buNone/>
            </a:pPr>
            <a:r>
              <a:rPr lang="en-GB">
                <a:solidFill>
                  <a:srgbClr val="000000"/>
                </a:solidFill>
                <a:latin typeface="Inter"/>
                <a:ea typeface="Inter"/>
                <a:cs typeface="Inter"/>
                <a:sym typeface="Inter"/>
              </a:rPr>
              <a:t>[1] T. Akenine-Moller, E. Haines, and N. Hoffman, Real-Time Rendering, 4th ed. CRC Press, 2018.</a:t>
            </a:r>
            <a:endParaRPr>
              <a:solidFill>
                <a:srgbClr val="000000"/>
              </a:solidFill>
              <a:latin typeface="Inter"/>
              <a:ea typeface="Inter"/>
              <a:cs typeface="Inter"/>
              <a:sym typeface="Inter"/>
            </a:endParaRPr>
          </a:p>
          <a:p>
            <a:pPr indent="0" lvl="0" marL="0" rtl="0" algn="just">
              <a:spcBef>
                <a:spcPts val="1200"/>
              </a:spcBef>
              <a:spcAft>
                <a:spcPts val="0"/>
              </a:spcAft>
              <a:buNone/>
            </a:pPr>
            <a:r>
              <a:rPr lang="en-GB">
                <a:solidFill>
                  <a:srgbClr val="000000"/>
                </a:solidFill>
                <a:latin typeface="Inter"/>
                <a:ea typeface="Inter"/>
                <a:cs typeface="Inter"/>
                <a:sym typeface="Inter"/>
              </a:rPr>
              <a:t>[2] S. Russell and P. Norvig, Artificial Intelligence: A Modern Approach, 4th ed. Pearson, 2020.</a:t>
            </a:r>
            <a:endParaRPr>
              <a:solidFill>
                <a:srgbClr val="000000"/>
              </a:solidFill>
              <a:latin typeface="Inter"/>
              <a:ea typeface="Inter"/>
              <a:cs typeface="Inter"/>
              <a:sym typeface="Inter"/>
            </a:endParaRPr>
          </a:p>
          <a:p>
            <a:pPr indent="0" lvl="0" marL="0" rtl="0" algn="just">
              <a:spcBef>
                <a:spcPts val="1200"/>
              </a:spcBef>
              <a:spcAft>
                <a:spcPts val="0"/>
              </a:spcAft>
              <a:buNone/>
            </a:pPr>
            <a:r>
              <a:rPr lang="en-GB">
                <a:solidFill>
                  <a:srgbClr val="000000"/>
                </a:solidFill>
                <a:latin typeface="Inter"/>
                <a:ea typeface="Inter"/>
                <a:cs typeface="Inter"/>
                <a:sym typeface="Inter"/>
              </a:rPr>
              <a:t>[3] MDN Web Docs, 'HTML5 Canvas API,' Mozilla Developer Network. [Online]. Available: https://developer.mozilla.org/en-US/docs/Web/API/Canvas_API</a:t>
            </a:r>
            <a:endParaRPr>
              <a:solidFill>
                <a:srgbClr val="000000"/>
              </a:solidFill>
              <a:latin typeface="Inter"/>
              <a:ea typeface="Inter"/>
              <a:cs typeface="Inter"/>
              <a:sym typeface="Inter"/>
            </a:endParaRPr>
          </a:p>
          <a:p>
            <a:pPr indent="0" lvl="0" marL="0" rtl="0" algn="just">
              <a:spcBef>
                <a:spcPts val="1200"/>
              </a:spcBef>
              <a:spcAft>
                <a:spcPts val="0"/>
              </a:spcAft>
              <a:buNone/>
            </a:pPr>
            <a:r>
              <a:rPr lang="en-GB">
                <a:solidFill>
                  <a:srgbClr val="000000"/>
                </a:solidFill>
                <a:latin typeface="Inter"/>
                <a:ea typeface="Inter"/>
                <a:cs typeface="Inter"/>
                <a:sym typeface="Inter"/>
              </a:rPr>
              <a:t>[4] React Official Documentation, 'React - A JavaScript library for building user interfaces.' [Online]. Available: https://react.dev</a:t>
            </a:r>
            <a:endParaRPr>
              <a:solidFill>
                <a:srgbClr val="000000"/>
              </a:solidFill>
              <a:latin typeface="Inter"/>
              <a:ea typeface="Inter"/>
              <a:cs typeface="Inter"/>
              <a:sym typeface="Inter"/>
            </a:endParaRPr>
          </a:p>
          <a:p>
            <a:pPr indent="0" lvl="0" marL="0" rtl="0" algn="just">
              <a:spcBef>
                <a:spcPts val="1200"/>
              </a:spcBef>
              <a:spcAft>
                <a:spcPts val="0"/>
              </a:spcAft>
              <a:buNone/>
            </a:pPr>
            <a:r>
              <a:rPr lang="en-GB">
                <a:solidFill>
                  <a:srgbClr val="000000"/>
                </a:solidFill>
                <a:latin typeface="Inter"/>
                <a:ea typeface="Inter"/>
                <a:cs typeface="Inter"/>
                <a:sym typeface="Inter"/>
              </a:rPr>
              <a:t>[5] Vercel, 'Vercel - Deploy web projects with zero configuration.' [Online]. Available: https://vercel.com</a:t>
            </a:r>
            <a:endParaRPr>
              <a:solidFill>
                <a:srgbClr val="000000"/>
              </a:solidFill>
              <a:latin typeface="Inter"/>
              <a:ea typeface="Inter"/>
              <a:cs typeface="Inter"/>
              <a:sym typeface="Inter"/>
            </a:endParaRPr>
          </a:p>
          <a:p>
            <a:pPr indent="0" lvl="0" marL="0" rtl="0" algn="just">
              <a:spcBef>
                <a:spcPts val="1200"/>
              </a:spcBef>
              <a:spcAft>
                <a:spcPts val="0"/>
              </a:spcAft>
              <a:buNone/>
            </a:pPr>
            <a:r>
              <a:rPr lang="en-GB">
                <a:solidFill>
                  <a:srgbClr val="000000"/>
                </a:solidFill>
                <a:latin typeface="Inter"/>
                <a:ea typeface="Inter"/>
                <a:cs typeface="Inter"/>
                <a:sym typeface="Inter"/>
              </a:rPr>
              <a:t>[6] W3C, 'CSS Animations Level 1,' W3C Recommendation, 2018. [Online]. Available: https://www.w3.org/TR/css-animations-1/</a:t>
            </a:r>
            <a:endParaRPr>
              <a:solidFill>
                <a:srgbClr val="000000"/>
              </a:solidFill>
              <a:latin typeface="Inter"/>
              <a:ea typeface="Inter"/>
              <a:cs typeface="Inter"/>
              <a:sym typeface="Inter"/>
            </a:endParaRPr>
          </a:p>
          <a:p>
            <a:pPr indent="0" lvl="0" marL="0" rtl="0" algn="just">
              <a:spcBef>
                <a:spcPts val="1200"/>
              </a:spcBef>
              <a:spcAft>
                <a:spcPts val="0"/>
              </a:spcAft>
              <a:buNone/>
            </a:pPr>
            <a:r>
              <a:rPr lang="en-GB">
                <a:solidFill>
                  <a:srgbClr val="000000"/>
                </a:solidFill>
                <a:latin typeface="Inter"/>
                <a:ea typeface="Inter"/>
                <a:cs typeface="Inter"/>
                <a:sym typeface="Inter"/>
              </a:rPr>
              <a:t>[7] R. Sedgewick and K. Wayne, Algorithms, 4th ed. Addison-Wesley, 2011.</a:t>
            </a:r>
            <a:endParaRPr>
              <a:solidFill>
                <a:srgbClr val="000000"/>
              </a:solidFill>
              <a:latin typeface="Inter"/>
              <a:ea typeface="Inter"/>
              <a:cs typeface="Inter"/>
              <a:sym typeface="Inter"/>
            </a:endParaRPr>
          </a:p>
          <a:p>
            <a:pPr indent="0" lvl="0" marL="0" rtl="0" algn="just">
              <a:spcBef>
                <a:spcPts val="1200"/>
              </a:spcBef>
              <a:spcAft>
                <a:spcPts val="0"/>
              </a:spcAft>
              <a:buNone/>
            </a:pPr>
            <a:r>
              <a:rPr lang="en-GB">
                <a:solidFill>
                  <a:srgbClr val="000000"/>
                </a:solidFill>
                <a:latin typeface="Inter"/>
                <a:ea typeface="Inter"/>
                <a:cs typeface="Inter"/>
                <a:sym typeface="Inter"/>
              </a:rPr>
              <a:t>[8] T. H. Cormen, C. E. Leiserson, R. L. Rivest, and C. Stein, Introduction to Algorithms, 3rd ed. MIT Press, 2009.</a:t>
            </a:r>
            <a:endParaRPr>
              <a:solidFill>
                <a:srgbClr val="000000"/>
              </a:solidFill>
              <a:latin typeface="Inter"/>
              <a:ea typeface="Inter"/>
              <a:cs typeface="Inter"/>
              <a:sym typeface="Inter"/>
            </a:endParaRPr>
          </a:p>
          <a:p>
            <a:pPr indent="0" lvl="0" marL="0" rtl="0" algn="just">
              <a:spcBef>
                <a:spcPts val="1200"/>
              </a:spcBef>
              <a:spcAft>
                <a:spcPts val="800"/>
              </a:spcAft>
              <a:buNone/>
            </a:pPr>
            <a:r>
              <a:rPr lang="en-GB">
                <a:solidFill>
                  <a:srgbClr val="000000"/>
                </a:solidFill>
                <a:latin typeface="Inter"/>
                <a:ea typeface="Inter"/>
                <a:cs typeface="Inter"/>
                <a:sym typeface="Inter"/>
              </a:rPr>
              <a:t>[9] Arcadex Gaming Suite. [Online]. Available: </a:t>
            </a:r>
            <a:r>
              <a:rPr lang="en-GB" u="sng">
                <a:solidFill>
                  <a:srgbClr val="000000"/>
                </a:solidFill>
                <a:latin typeface="Inter"/>
                <a:ea typeface="Inter"/>
                <a:cs typeface="Inter"/>
                <a:sym typeface="Inter"/>
                <a:hlinkClick r:id="rId3">
                  <a:extLst>
                    <a:ext uri="{A12FA001-AC4F-418D-AE19-62706E023703}">
                      <ahyp:hlinkClr val="tx"/>
                    </a:ext>
                  </a:extLst>
                </a:hlinkClick>
              </a:rPr>
              <a:t>https://arcadexmit.vercel.app</a:t>
            </a:r>
            <a:endParaRPr>
              <a:solidFill>
                <a:srgbClr val="000000"/>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